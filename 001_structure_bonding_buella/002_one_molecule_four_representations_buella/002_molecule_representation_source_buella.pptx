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44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1CB51B-DAC7-491E-ADDF-2DD84862D957}" type="datetimeFigureOut">
              <a:rPr lang="en-PH" smtClean="0"/>
              <a:t>10/30/2026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18EFB0-9533-4A13-B0AD-84927234E5B3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2392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8EFB0-9533-4A13-B0AD-84927234E5B3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31438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8EFB0-9533-4A13-B0AD-84927234E5B3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3388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18EFB0-9533-4A13-B0AD-84927234E5B3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7509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9866376" cy="658368"/>
          </a:xfrm>
          <a:prstGeom prst="rect">
            <a:avLst/>
          </a:prstGeom>
          <a:solidFill>
            <a:srgbClr val="1E354D"/>
          </a:solidFill>
          <a:ln>
            <a:solidFill>
              <a:srgbClr val="1E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93192"/>
            <a:ext cx="95554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CARD 01 — PROPANE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94944"/>
            <a:ext cx="941832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Molecular Formula: C₃H₈     |     IUPAC name: Propane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0782" y="1173856"/>
            <a:ext cx="4864608" cy="2240280"/>
          </a:xfrm>
          <a:prstGeom prst="rect">
            <a:avLst/>
          </a:prstGeom>
          <a:solidFill>
            <a:srgbClr val="E2EBF4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84632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1. MOLECULAR FORMULA / IDENTITY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8518" y="1403345"/>
            <a:ext cx="1543249" cy="191129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4000" b="0" dirty="0">
                <a:solidFill>
                  <a:srgbClr val="1E354D"/>
                </a:solidFill>
                <a:latin typeface="Aptos"/>
              </a:rPr>
              <a:t>
</a:t>
            </a:r>
            <a:r>
              <a:rPr sz="4000" b="1" dirty="0">
                <a:solidFill>
                  <a:srgbClr val="1E354D"/>
                </a:solidFill>
                <a:latin typeface="Aptos"/>
              </a:rPr>
              <a:t>C₃H₈</a:t>
            </a:r>
            <a:r>
              <a:rPr sz="4000" b="0" dirty="0">
                <a:solidFill>
                  <a:srgbClr val="1E354D"/>
                </a:solidFill>
                <a:latin typeface="Aptos"/>
              </a:rPr>
              <a:t>
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5322" y="1173856"/>
            <a:ext cx="4864608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486400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2. LEWIS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8115" y="1554480"/>
            <a:ext cx="4718304" cy="23391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100" b="0" dirty="0">
                <a:solidFill>
                  <a:srgbClr val="1E354D"/>
                </a:solidFill>
                <a:latin typeface="Aptos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82" y="3563300"/>
            <a:ext cx="4864608" cy="2395728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84632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3. CONDENSED STRUCTURAL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9414" y="4426262"/>
            <a:ext cx="3408739" cy="191129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4000" b="1" dirty="0">
                <a:solidFill>
                  <a:srgbClr val="1E354D"/>
                </a:solidFill>
                <a:latin typeface="Aptos"/>
              </a:rPr>
              <a:t>CH₃CH</a:t>
            </a:r>
            <a:r>
              <a:rPr lang="en-PH" sz="4000" b="1" dirty="0">
                <a:solidFill>
                  <a:srgbClr val="1E354D"/>
                </a:solidFill>
                <a:latin typeface="Aptos"/>
              </a:rPr>
              <a:t>₂</a:t>
            </a:r>
            <a:r>
              <a:rPr sz="4000" b="1" dirty="0">
                <a:solidFill>
                  <a:srgbClr val="1E354D"/>
                </a:solidFill>
                <a:latin typeface="Aptos"/>
              </a:rPr>
              <a:t>CH₃</a:t>
            </a:r>
            <a:r>
              <a:rPr sz="4000" b="0" dirty="0">
                <a:solidFill>
                  <a:srgbClr val="1E354D"/>
                </a:solidFill>
                <a:latin typeface="Aptos"/>
              </a:rPr>
              <a:t>
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5322" y="3563300"/>
            <a:ext cx="4864608" cy="2395728"/>
          </a:xfrm>
          <a:prstGeom prst="rect">
            <a:avLst/>
          </a:prstGeom>
          <a:solidFill>
            <a:srgbClr val="FFEED6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486400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4. BOND-LINE FORMULA (KETCHER)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0586" y="4096636"/>
            <a:ext cx="4718304" cy="572464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100" b="0" dirty="0">
                <a:solidFill>
                  <a:srgbClr val="1E354D"/>
                </a:solidFill>
                <a:latin typeface="Aptos"/>
              </a:rPr>
              <a:t>
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" y="6108954"/>
            <a:ext cx="9866376" cy="685800"/>
          </a:xfrm>
          <a:prstGeom prst="rect">
            <a:avLst/>
          </a:prstGeom>
          <a:solidFill>
            <a:srgbClr val="DEF1E2"/>
          </a:solidFill>
          <a:ln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190488"/>
            <a:ext cx="95554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1">
                <a:solidFill>
                  <a:srgbClr val="1E354D"/>
                </a:solidFill>
                <a:latin typeface="Aptos"/>
              </a:rPr>
              <a:t>VERIFICATION STRIP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446520"/>
            <a:ext cx="955548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lang="en-PH" sz="1000" b="0" dirty="0">
                <a:solidFill>
                  <a:srgbClr val="1E354D"/>
                </a:solidFill>
                <a:latin typeface="Aptos"/>
              </a:rPr>
              <a:t>☐</a:t>
            </a:r>
            <a:r>
              <a:rPr sz="1000" b="0" dirty="0">
                <a:solidFill>
                  <a:srgbClr val="1E354D"/>
                </a:solidFill>
                <a:latin typeface="Aptos"/>
              </a:rPr>
              <a:t> atom count verified     ☐ valence checked     ☐ bond order checked     ☐ same connectivity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7022592"/>
            <a:ext cx="9866376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800" b="0" dirty="0">
                <a:solidFill>
                  <a:srgbClr val="64707C"/>
                </a:solidFill>
                <a:latin typeface="Aptos"/>
              </a:rPr>
              <a:t>CHEM 13 | Organic Chemistry (Lecture) | Bicol University — College of Engineering | Department of Chemical Engineering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C2DB2DA-81F3-863E-B6A1-2F2E1D469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614" y="4618779"/>
            <a:ext cx="1108248" cy="3989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F97E605-AC0A-1260-F73B-516BCB02D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653" y="1983838"/>
            <a:ext cx="1883827" cy="713294"/>
          </a:xfrm>
          <a:prstGeom prst="rect">
            <a:avLst/>
          </a:prstGeom>
        </p:spPr>
      </p:pic>
      <p:sp>
        <p:nvSpPr>
          <p:cNvPr id="25" name="object 35">
            <a:extLst>
              <a:ext uri="{FF2B5EF4-FFF2-40B4-BE49-F238E27FC236}">
                <a16:creationId xmlns:a16="http://schemas.microsoft.com/office/drawing/2014/main" id="{7D60DC3D-464F-AF4E-C09D-A0FE9A4C0097}"/>
              </a:ext>
            </a:extLst>
          </p:cNvPr>
          <p:cNvSpPr txBox="1"/>
          <p:nvPr/>
        </p:nvSpPr>
        <p:spPr>
          <a:xfrm>
            <a:off x="8202108" y="2764521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7" name="object 35">
            <a:extLst>
              <a:ext uri="{FF2B5EF4-FFF2-40B4-BE49-F238E27FC236}">
                <a16:creationId xmlns:a16="http://schemas.microsoft.com/office/drawing/2014/main" id="{A22C921A-5C22-C00D-AF75-2A7E3544FB1F}"/>
              </a:ext>
            </a:extLst>
          </p:cNvPr>
          <p:cNvSpPr txBox="1"/>
          <p:nvPr/>
        </p:nvSpPr>
        <p:spPr>
          <a:xfrm>
            <a:off x="7612971" y="274966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9" name="object 35">
            <a:extLst>
              <a:ext uri="{FF2B5EF4-FFF2-40B4-BE49-F238E27FC236}">
                <a16:creationId xmlns:a16="http://schemas.microsoft.com/office/drawing/2014/main" id="{EB8A7198-3DD1-D948-5738-54D681629D16}"/>
              </a:ext>
            </a:extLst>
          </p:cNvPr>
          <p:cNvSpPr txBox="1"/>
          <p:nvPr/>
        </p:nvSpPr>
        <p:spPr>
          <a:xfrm>
            <a:off x="7023834" y="273061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1" name="object 35">
            <a:extLst>
              <a:ext uri="{FF2B5EF4-FFF2-40B4-BE49-F238E27FC236}">
                <a16:creationId xmlns:a16="http://schemas.microsoft.com/office/drawing/2014/main" id="{A6850BE7-1D51-CFF1-BBA3-79C01E64CC0B}"/>
              </a:ext>
            </a:extLst>
          </p:cNvPr>
          <p:cNvSpPr txBox="1"/>
          <p:nvPr/>
        </p:nvSpPr>
        <p:spPr>
          <a:xfrm>
            <a:off x="8723207" y="223634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3" name="object 35">
            <a:extLst>
              <a:ext uri="{FF2B5EF4-FFF2-40B4-BE49-F238E27FC236}">
                <a16:creationId xmlns:a16="http://schemas.microsoft.com/office/drawing/2014/main" id="{6A0222D7-4E4A-5027-02B8-035F071E489E}"/>
              </a:ext>
            </a:extLst>
          </p:cNvPr>
          <p:cNvSpPr txBox="1"/>
          <p:nvPr/>
        </p:nvSpPr>
        <p:spPr>
          <a:xfrm>
            <a:off x="6469301" y="223634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352D8914-8E5E-5FF1-994A-5B353A258925}"/>
              </a:ext>
            </a:extLst>
          </p:cNvPr>
          <p:cNvSpPr txBox="1"/>
          <p:nvPr/>
        </p:nvSpPr>
        <p:spPr>
          <a:xfrm>
            <a:off x="8212080" y="177905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4648C334-3B76-CE21-A2AE-D91D8AC0E63C}"/>
              </a:ext>
            </a:extLst>
          </p:cNvPr>
          <p:cNvSpPr txBox="1"/>
          <p:nvPr/>
        </p:nvSpPr>
        <p:spPr>
          <a:xfrm>
            <a:off x="7599801" y="177905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9" name="object 35">
            <a:extLst>
              <a:ext uri="{FF2B5EF4-FFF2-40B4-BE49-F238E27FC236}">
                <a16:creationId xmlns:a16="http://schemas.microsoft.com/office/drawing/2014/main" id="{42BB9B95-4E1F-3512-61AE-4D95AA8A8ADB}"/>
              </a:ext>
            </a:extLst>
          </p:cNvPr>
          <p:cNvSpPr txBox="1"/>
          <p:nvPr/>
        </p:nvSpPr>
        <p:spPr>
          <a:xfrm>
            <a:off x="7043648" y="176539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1" name="object 27">
            <a:extLst>
              <a:ext uri="{FF2B5EF4-FFF2-40B4-BE49-F238E27FC236}">
                <a16:creationId xmlns:a16="http://schemas.microsoft.com/office/drawing/2014/main" id="{CC3E1FE5-814C-9934-8793-A5954DA85C69}"/>
              </a:ext>
            </a:extLst>
          </p:cNvPr>
          <p:cNvSpPr txBox="1"/>
          <p:nvPr/>
        </p:nvSpPr>
        <p:spPr>
          <a:xfrm>
            <a:off x="8199380" y="224591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3" name="object 27">
            <a:extLst>
              <a:ext uri="{FF2B5EF4-FFF2-40B4-BE49-F238E27FC236}">
                <a16:creationId xmlns:a16="http://schemas.microsoft.com/office/drawing/2014/main" id="{159C7CF6-B281-8BB8-C993-BB80242A70B7}"/>
              </a:ext>
            </a:extLst>
          </p:cNvPr>
          <p:cNvSpPr txBox="1"/>
          <p:nvPr/>
        </p:nvSpPr>
        <p:spPr>
          <a:xfrm>
            <a:off x="7612971" y="225485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7" name="object 27">
            <a:extLst>
              <a:ext uri="{FF2B5EF4-FFF2-40B4-BE49-F238E27FC236}">
                <a16:creationId xmlns:a16="http://schemas.microsoft.com/office/drawing/2014/main" id="{ECC05B90-3E03-20F2-922E-38D95CF3343B}"/>
              </a:ext>
            </a:extLst>
          </p:cNvPr>
          <p:cNvSpPr txBox="1"/>
          <p:nvPr/>
        </p:nvSpPr>
        <p:spPr>
          <a:xfrm>
            <a:off x="7021870" y="223658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5" name="object 45">
            <a:extLst>
              <a:ext uri="{FF2B5EF4-FFF2-40B4-BE49-F238E27FC236}">
                <a16:creationId xmlns:a16="http://schemas.microsoft.com/office/drawing/2014/main" id="{62F3CCB0-A933-9513-1D6D-8CA3220355D8}"/>
              </a:ext>
            </a:extLst>
          </p:cNvPr>
          <p:cNvSpPr/>
          <p:nvPr/>
        </p:nvSpPr>
        <p:spPr>
          <a:xfrm>
            <a:off x="2584222" y="6505066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5">
            <a:extLst>
              <a:ext uri="{FF2B5EF4-FFF2-40B4-BE49-F238E27FC236}">
                <a16:creationId xmlns:a16="http://schemas.microsoft.com/office/drawing/2014/main" id="{DA9679FB-1D9C-0874-14F2-4851800C346C}"/>
              </a:ext>
            </a:extLst>
          </p:cNvPr>
          <p:cNvSpPr/>
          <p:nvPr/>
        </p:nvSpPr>
        <p:spPr>
          <a:xfrm>
            <a:off x="3921532" y="6505066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45">
            <a:extLst>
              <a:ext uri="{FF2B5EF4-FFF2-40B4-BE49-F238E27FC236}">
                <a16:creationId xmlns:a16="http://schemas.microsoft.com/office/drawing/2014/main" id="{2DBFA0A5-41DA-DD99-F3AB-0A2B250D390D}"/>
              </a:ext>
            </a:extLst>
          </p:cNvPr>
          <p:cNvSpPr/>
          <p:nvPr/>
        </p:nvSpPr>
        <p:spPr>
          <a:xfrm>
            <a:off x="5089847" y="6514597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45">
            <a:extLst>
              <a:ext uri="{FF2B5EF4-FFF2-40B4-BE49-F238E27FC236}">
                <a16:creationId xmlns:a16="http://schemas.microsoft.com/office/drawing/2014/main" id="{EFFB99DE-C988-8764-D9E4-0271EDD7890A}"/>
              </a:ext>
            </a:extLst>
          </p:cNvPr>
          <p:cNvSpPr/>
          <p:nvPr/>
        </p:nvSpPr>
        <p:spPr>
          <a:xfrm>
            <a:off x="6427073" y="6505066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9866376" cy="658368"/>
          </a:xfrm>
          <a:prstGeom prst="rect">
            <a:avLst/>
          </a:prstGeom>
          <a:solidFill>
            <a:srgbClr val="1E354D"/>
          </a:solidFill>
          <a:ln>
            <a:solidFill>
              <a:srgbClr val="1E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93192"/>
            <a:ext cx="95554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CARD 02 — ETHANOL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94944"/>
            <a:ext cx="941832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Molecular Formula: C₂H₆O     |     IUPAC name: Ethanol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70432"/>
            <a:ext cx="4864608" cy="2240280"/>
          </a:xfrm>
          <a:prstGeom prst="rect">
            <a:avLst/>
          </a:prstGeom>
          <a:solidFill>
            <a:srgbClr val="E2EBF4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1. MOLECULAR FORMULA / IDENTITY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500" y="1942001"/>
            <a:ext cx="1962891" cy="1234184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4000" b="1" dirty="0">
                <a:solidFill>
                  <a:srgbClr val="1E354D"/>
                </a:solidFill>
                <a:latin typeface="Aptos"/>
              </a:rPr>
              <a:t>C₂H₆O</a:t>
            </a:r>
            <a:r>
              <a:rPr sz="3600" b="1" dirty="0">
                <a:solidFill>
                  <a:srgbClr val="1E354D"/>
                </a:solidFill>
                <a:latin typeface="Aptos"/>
              </a:rPr>
              <a:t>
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4204" y="1183888"/>
            <a:ext cx="4864608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2. LEWIS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82" y="3566160"/>
            <a:ext cx="4864608" cy="2395728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3. CONDENSED STRUCTURAL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5784" y="4412860"/>
            <a:ext cx="2914785" cy="1141851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4000" b="1" dirty="0">
                <a:solidFill>
                  <a:srgbClr val="1E354D"/>
                </a:solidFill>
                <a:latin typeface="Aptos"/>
              </a:rPr>
              <a:t>CH₃CH₂OH</a:t>
            </a:r>
            <a:r>
              <a:rPr sz="1500" b="0" dirty="0">
                <a:solidFill>
                  <a:srgbClr val="1E354D"/>
                </a:solidFill>
                <a:latin typeface="Aptos"/>
              </a:rPr>
              <a:t>
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3248" y="3575304"/>
            <a:ext cx="4864608" cy="2395728"/>
          </a:xfrm>
          <a:prstGeom prst="rect">
            <a:avLst/>
          </a:prstGeom>
          <a:solidFill>
            <a:srgbClr val="FFEED6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486400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dirty="0">
                <a:solidFill>
                  <a:srgbClr val="1E354D"/>
                </a:solidFill>
                <a:latin typeface="Aptos"/>
              </a:rPr>
              <a:t>4. BOND-LINE FORMULA (KETCHER)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108192"/>
            <a:ext cx="9866376" cy="685800"/>
          </a:xfrm>
          <a:prstGeom prst="rect">
            <a:avLst/>
          </a:prstGeom>
          <a:solidFill>
            <a:srgbClr val="DEF1E2"/>
          </a:solidFill>
          <a:ln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190488"/>
            <a:ext cx="95554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1" dirty="0">
                <a:solidFill>
                  <a:srgbClr val="1E354D"/>
                </a:solidFill>
                <a:latin typeface="Aptos"/>
              </a:rPr>
              <a:t>VERIFICATION STRIP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955548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0" dirty="0">
                <a:solidFill>
                  <a:srgbClr val="1E354D"/>
                </a:solidFill>
                <a:latin typeface="Aptos"/>
              </a:rPr>
              <a:t>☐ atom count verified     ☐ valence checked     ☐ bond order checked     ☐ same connectivity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7022592"/>
            <a:ext cx="9866376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800" b="0">
                <a:solidFill>
                  <a:srgbClr val="64707C"/>
                </a:solidFill>
                <a:latin typeface="Aptos"/>
              </a:rPr>
              <a:t>CHEM 13 | Organic Chemistry (Lecture) | Bicol University — College of Engineering | Department of Chemical Engineering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32DE37A-0D68-ACE6-096A-786C989D5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905" y="4713589"/>
            <a:ext cx="1267584" cy="464781"/>
          </a:xfrm>
          <a:prstGeom prst="rect">
            <a:avLst/>
          </a:prstGeom>
        </p:spPr>
      </p:pic>
      <p:sp>
        <p:nvSpPr>
          <p:cNvPr id="25" name="object 25">
            <a:extLst>
              <a:ext uri="{FF2B5EF4-FFF2-40B4-BE49-F238E27FC236}">
                <a16:creationId xmlns:a16="http://schemas.microsoft.com/office/drawing/2014/main" id="{2D2048CF-669B-36D1-7518-6B12CF8BB044}"/>
              </a:ext>
            </a:extLst>
          </p:cNvPr>
          <p:cNvSpPr/>
          <p:nvPr/>
        </p:nvSpPr>
        <p:spPr>
          <a:xfrm>
            <a:off x="6970360" y="2092310"/>
            <a:ext cx="1862455" cy="694055"/>
          </a:xfrm>
          <a:custGeom>
            <a:avLst/>
            <a:gdLst/>
            <a:ahLst/>
            <a:cxnLst/>
            <a:rect l="l" t="t" r="r" b="b"/>
            <a:pathLst>
              <a:path w="1862454" h="694055">
                <a:moveTo>
                  <a:pt x="435863" y="346963"/>
                </a:moveTo>
                <a:lnTo>
                  <a:pt x="842263" y="346963"/>
                </a:lnTo>
              </a:path>
              <a:path w="1862454" h="694055">
                <a:moveTo>
                  <a:pt x="1020063" y="346963"/>
                </a:moveTo>
                <a:lnTo>
                  <a:pt x="1426463" y="346963"/>
                </a:lnTo>
              </a:path>
              <a:path w="1862454" h="694055">
                <a:moveTo>
                  <a:pt x="258063" y="346963"/>
                </a:moveTo>
                <a:lnTo>
                  <a:pt x="0" y="346963"/>
                </a:lnTo>
              </a:path>
              <a:path w="1862454" h="694055">
                <a:moveTo>
                  <a:pt x="346963" y="435863"/>
                </a:moveTo>
                <a:lnTo>
                  <a:pt x="346963" y="693927"/>
                </a:lnTo>
              </a:path>
              <a:path w="1862454" h="694055">
                <a:moveTo>
                  <a:pt x="346963" y="258063"/>
                </a:moveTo>
                <a:lnTo>
                  <a:pt x="346963" y="0"/>
                </a:lnTo>
              </a:path>
              <a:path w="1862454" h="694055">
                <a:moveTo>
                  <a:pt x="931163" y="435863"/>
                </a:moveTo>
                <a:lnTo>
                  <a:pt x="931163" y="693927"/>
                </a:lnTo>
              </a:path>
              <a:path w="1862454" h="694055">
                <a:moveTo>
                  <a:pt x="931163" y="258063"/>
                </a:moveTo>
                <a:lnTo>
                  <a:pt x="931163" y="0"/>
                </a:lnTo>
              </a:path>
              <a:path w="1862454" h="694055">
                <a:moveTo>
                  <a:pt x="1604263" y="346963"/>
                </a:moveTo>
                <a:lnTo>
                  <a:pt x="1862327" y="346963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BDC2CEF0-00B3-E0AA-B74E-06884F35DE3D}"/>
              </a:ext>
            </a:extLst>
          </p:cNvPr>
          <p:cNvSpPr txBox="1"/>
          <p:nvPr/>
        </p:nvSpPr>
        <p:spPr>
          <a:xfrm>
            <a:off x="7262308" y="2785551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1" name="object 28">
            <a:extLst>
              <a:ext uri="{FF2B5EF4-FFF2-40B4-BE49-F238E27FC236}">
                <a16:creationId xmlns:a16="http://schemas.microsoft.com/office/drawing/2014/main" id="{52A2ABFB-E5AD-708F-C679-003DCEAB5A5D}"/>
              </a:ext>
            </a:extLst>
          </p:cNvPr>
          <p:cNvSpPr txBox="1"/>
          <p:nvPr/>
        </p:nvSpPr>
        <p:spPr>
          <a:xfrm>
            <a:off x="6800027" y="233673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3" name="object 28">
            <a:extLst>
              <a:ext uri="{FF2B5EF4-FFF2-40B4-BE49-F238E27FC236}">
                <a16:creationId xmlns:a16="http://schemas.microsoft.com/office/drawing/2014/main" id="{AC115510-82C7-2CC9-AC5C-B07A29075912}"/>
              </a:ext>
            </a:extLst>
          </p:cNvPr>
          <p:cNvSpPr txBox="1"/>
          <p:nvPr/>
        </p:nvSpPr>
        <p:spPr>
          <a:xfrm>
            <a:off x="7845552" y="2813797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7" name="object 26">
            <a:extLst>
              <a:ext uri="{FF2B5EF4-FFF2-40B4-BE49-F238E27FC236}">
                <a16:creationId xmlns:a16="http://schemas.microsoft.com/office/drawing/2014/main" id="{FDE41587-31F1-3D61-B7C7-1617C509FA96}"/>
              </a:ext>
            </a:extLst>
          </p:cNvPr>
          <p:cNvSpPr txBox="1"/>
          <p:nvPr/>
        </p:nvSpPr>
        <p:spPr>
          <a:xfrm>
            <a:off x="7262308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9" name="object 27">
            <a:extLst>
              <a:ext uri="{FF2B5EF4-FFF2-40B4-BE49-F238E27FC236}">
                <a16:creationId xmlns:a16="http://schemas.microsoft.com/office/drawing/2014/main" id="{FF30E0FC-BFAC-AA6D-D84F-153ECCA77429}"/>
              </a:ext>
            </a:extLst>
          </p:cNvPr>
          <p:cNvSpPr txBox="1"/>
          <p:nvPr/>
        </p:nvSpPr>
        <p:spPr>
          <a:xfrm>
            <a:off x="7846508" y="232903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1" name="object 30">
            <a:extLst>
              <a:ext uri="{FF2B5EF4-FFF2-40B4-BE49-F238E27FC236}">
                <a16:creationId xmlns:a16="http://schemas.microsoft.com/office/drawing/2014/main" id="{27CE0AA0-F793-DD30-937A-6E02B3EB87DE}"/>
              </a:ext>
            </a:extLst>
          </p:cNvPr>
          <p:cNvSpPr txBox="1"/>
          <p:nvPr/>
        </p:nvSpPr>
        <p:spPr>
          <a:xfrm>
            <a:off x="7262308" y="190841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3" name="object 32">
            <a:extLst>
              <a:ext uri="{FF2B5EF4-FFF2-40B4-BE49-F238E27FC236}">
                <a16:creationId xmlns:a16="http://schemas.microsoft.com/office/drawing/2014/main" id="{A0B15E12-D1CB-7E34-09A2-5BF1EDFCABDF}"/>
              </a:ext>
            </a:extLst>
          </p:cNvPr>
          <p:cNvSpPr txBox="1"/>
          <p:nvPr/>
        </p:nvSpPr>
        <p:spPr>
          <a:xfrm>
            <a:off x="7846508" y="190841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5" name="object 34">
            <a:extLst>
              <a:ext uri="{FF2B5EF4-FFF2-40B4-BE49-F238E27FC236}">
                <a16:creationId xmlns:a16="http://schemas.microsoft.com/office/drawing/2014/main" id="{D72EAE78-BCCB-5291-CD58-B04943EECE59}"/>
              </a:ext>
            </a:extLst>
          </p:cNvPr>
          <p:cNvSpPr/>
          <p:nvPr/>
        </p:nvSpPr>
        <p:spPr>
          <a:xfrm>
            <a:off x="8439366" y="2304028"/>
            <a:ext cx="92710" cy="270510"/>
          </a:xfrm>
          <a:custGeom>
            <a:avLst/>
            <a:gdLst/>
            <a:ahLst/>
            <a:cxnLst/>
            <a:rect l="l" t="t" r="r" b="b"/>
            <a:pathLst>
              <a:path w="92709" h="270510">
                <a:moveTo>
                  <a:pt x="31750" y="245859"/>
                </a:moveTo>
                <a:lnTo>
                  <a:pt x="24638" y="238760"/>
                </a:lnTo>
                <a:lnTo>
                  <a:pt x="7112" y="238760"/>
                </a:lnTo>
                <a:lnTo>
                  <a:pt x="0" y="245859"/>
                </a:lnTo>
                <a:lnTo>
                  <a:pt x="0" y="263398"/>
                </a:lnTo>
                <a:lnTo>
                  <a:pt x="7112" y="270510"/>
                </a:lnTo>
                <a:lnTo>
                  <a:pt x="24638" y="270510"/>
                </a:lnTo>
                <a:lnTo>
                  <a:pt x="31750" y="263398"/>
                </a:lnTo>
                <a:lnTo>
                  <a:pt x="31750" y="254635"/>
                </a:lnTo>
                <a:lnTo>
                  <a:pt x="31750" y="245859"/>
                </a:lnTo>
                <a:close/>
              </a:path>
              <a:path w="92709" h="270510">
                <a:moveTo>
                  <a:pt x="31750" y="7099"/>
                </a:moveTo>
                <a:lnTo>
                  <a:pt x="24638" y="0"/>
                </a:lnTo>
                <a:lnTo>
                  <a:pt x="7112" y="0"/>
                </a:lnTo>
                <a:lnTo>
                  <a:pt x="0" y="7099"/>
                </a:lnTo>
                <a:lnTo>
                  <a:pt x="0" y="24638"/>
                </a:lnTo>
                <a:lnTo>
                  <a:pt x="7112" y="31750"/>
                </a:lnTo>
                <a:lnTo>
                  <a:pt x="24638" y="31750"/>
                </a:lnTo>
                <a:lnTo>
                  <a:pt x="31750" y="24638"/>
                </a:lnTo>
                <a:lnTo>
                  <a:pt x="31750" y="15875"/>
                </a:lnTo>
                <a:lnTo>
                  <a:pt x="31750" y="7099"/>
                </a:lnTo>
                <a:close/>
              </a:path>
              <a:path w="92709" h="270510">
                <a:moveTo>
                  <a:pt x="92710" y="245859"/>
                </a:moveTo>
                <a:lnTo>
                  <a:pt x="85598" y="238760"/>
                </a:lnTo>
                <a:lnTo>
                  <a:pt x="68072" y="238760"/>
                </a:lnTo>
                <a:lnTo>
                  <a:pt x="60960" y="245859"/>
                </a:lnTo>
                <a:lnTo>
                  <a:pt x="60960" y="263398"/>
                </a:lnTo>
                <a:lnTo>
                  <a:pt x="68072" y="270510"/>
                </a:lnTo>
                <a:lnTo>
                  <a:pt x="85598" y="270510"/>
                </a:lnTo>
                <a:lnTo>
                  <a:pt x="92710" y="263398"/>
                </a:lnTo>
                <a:lnTo>
                  <a:pt x="92710" y="254635"/>
                </a:lnTo>
                <a:lnTo>
                  <a:pt x="92710" y="245859"/>
                </a:lnTo>
                <a:close/>
              </a:path>
              <a:path w="92709" h="270510">
                <a:moveTo>
                  <a:pt x="92710" y="7099"/>
                </a:moveTo>
                <a:lnTo>
                  <a:pt x="85598" y="0"/>
                </a:lnTo>
                <a:lnTo>
                  <a:pt x="68072" y="0"/>
                </a:lnTo>
                <a:lnTo>
                  <a:pt x="60960" y="7099"/>
                </a:lnTo>
                <a:lnTo>
                  <a:pt x="60960" y="24638"/>
                </a:lnTo>
                <a:lnTo>
                  <a:pt x="68072" y="31750"/>
                </a:lnTo>
                <a:lnTo>
                  <a:pt x="85598" y="31750"/>
                </a:lnTo>
                <a:lnTo>
                  <a:pt x="92710" y="24638"/>
                </a:lnTo>
                <a:lnTo>
                  <a:pt x="92710" y="15875"/>
                </a:lnTo>
                <a:lnTo>
                  <a:pt x="92710" y="7099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33">
            <a:extLst>
              <a:ext uri="{FF2B5EF4-FFF2-40B4-BE49-F238E27FC236}">
                <a16:creationId xmlns:a16="http://schemas.microsoft.com/office/drawing/2014/main" id="{76EC2CEA-AF7C-077E-3D92-1B1657C255DC}"/>
              </a:ext>
            </a:extLst>
          </p:cNvPr>
          <p:cNvSpPr txBox="1"/>
          <p:nvPr/>
        </p:nvSpPr>
        <p:spPr>
          <a:xfrm>
            <a:off x="8430708" y="2323592"/>
            <a:ext cx="54800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24815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9" name="object 45">
            <a:extLst>
              <a:ext uri="{FF2B5EF4-FFF2-40B4-BE49-F238E27FC236}">
                <a16:creationId xmlns:a16="http://schemas.microsoft.com/office/drawing/2014/main" id="{D506D665-3C9E-378D-C783-73BBBCAF76BD}"/>
              </a:ext>
            </a:extLst>
          </p:cNvPr>
          <p:cNvSpPr/>
          <p:nvPr/>
        </p:nvSpPr>
        <p:spPr>
          <a:xfrm>
            <a:off x="2584222" y="6505066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45">
            <a:extLst>
              <a:ext uri="{FF2B5EF4-FFF2-40B4-BE49-F238E27FC236}">
                <a16:creationId xmlns:a16="http://schemas.microsoft.com/office/drawing/2014/main" id="{5C0CF0A3-0DF1-4D8C-4212-6E3D5E419901}"/>
              </a:ext>
            </a:extLst>
          </p:cNvPr>
          <p:cNvSpPr/>
          <p:nvPr/>
        </p:nvSpPr>
        <p:spPr>
          <a:xfrm>
            <a:off x="3877513" y="6511423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45">
            <a:extLst>
              <a:ext uri="{FF2B5EF4-FFF2-40B4-BE49-F238E27FC236}">
                <a16:creationId xmlns:a16="http://schemas.microsoft.com/office/drawing/2014/main" id="{2157C58A-111D-344F-F1CF-910AB441648A}"/>
              </a:ext>
            </a:extLst>
          </p:cNvPr>
          <p:cNvSpPr/>
          <p:nvPr/>
        </p:nvSpPr>
        <p:spPr>
          <a:xfrm>
            <a:off x="5054294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45">
            <a:extLst>
              <a:ext uri="{FF2B5EF4-FFF2-40B4-BE49-F238E27FC236}">
                <a16:creationId xmlns:a16="http://schemas.microsoft.com/office/drawing/2014/main" id="{3D7BD993-2B01-2377-D289-303BFE7C5E12}"/>
              </a:ext>
            </a:extLst>
          </p:cNvPr>
          <p:cNvSpPr/>
          <p:nvPr/>
        </p:nvSpPr>
        <p:spPr>
          <a:xfrm>
            <a:off x="6402426" y="6511421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9866376" cy="658368"/>
          </a:xfrm>
          <a:prstGeom prst="rect">
            <a:avLst/>
          </a:prstGeom>
          <a:solidFill>
            <a:srgbClr val="1E354D"/>
          </a:solidFill>
          <a:ln>
            <a:solidFill>
              <a:srgbClr val="1E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93192"/>
            <a:ext cx="95554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CARD 03 — ACETONE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94944"/>
            <a:ext cx="941832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Molecular Formula: C₃H₆O     |     IUPAC name: Propan-2-one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70432"/>
            <a:ext cx="4864608" cy="2240280"/>
          </a:xfrm>
          <a:prstGeom prst="rect">
            <a:avLst/>
          </a:prstGeom>
          <a:solidFill>
            <a:srgbClr val="E2EBF4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1. MOLECULAR FORMULA / IDENTITY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7672" y="1950479"/>
            <a:ext cx="1860535" cy="68018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4000" b="1" dirty="0">
                <a:solidFill>
                  <a:srgbClr val="1E354D"/>
                </a:solidFill>
                <a:latin typeface="Aptos"/>
              </a:rPr>
              <a:t>C₃H₆O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9937" y="1179576"/>
            <a:ext cx="4864608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486400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2. LEWIS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566160"/>
            <a:ext cx="4864608" cy="2395728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3. CONDENSED STRUCTURAL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7172" y="4407773"/>
            <a:ext cx="3610626" cy="1295739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4000" b="1" dirty="0">
                <a:solidFill>
                  <a:srgbClr val="1E354D"/>
                </a:solidFill>
                <a:latin typeface="Aptos"/>
              </a:rPr>
              <a:t>CH₃C</a:t>
            </a:r>
            <a:r>
              <a:rPr lang="en-US" sz="4000" b="1" dirty="0">
                <a:solidFill>
                  <a:srgbClr val="1E354D"/>
                </a:solidFill>
                <a:latin typeface="Aptos"/>
              </a:rPr>
              <a:t>(=</a:t>
            </a:r>
            <a:r>
              <a:rPr sz="4000" b="1" dirty="0">
                <a:solidFill>
                  <a:srgbClr val="1E354D"/>
                </a:solidFill>
                <a:latin typeface="Aptos"/>
              </a:rPr>
              <a:t>O</a:t>
            </a:r>
            <a:r>
              <a:rPr lang="en-US" sz="4000" b="1" dirty="0">
                <a:solidFill>
                  <a:srgbClr val="1E354D"/>
                </a:solidFill>
                <a:latin typeface="Aptos"/>
              </a:rPr>
              <a:t>)</a:t>
            </a:r>
            <a:r>
              <a:rPr sz="4000" b="1" dirty="0">
                <a:solidFill>
                  <a:srgbClr val="1E354D"/>
                </a:solidFill>
                <a:latin typeface="Aptos"/>
              </a:rPr>
              <a:t>CH₃</a:t>
            </a:r>
            <a:r>
              <a:rPr sz="4000" b="0" dirty="0">
                <a:solidFill>
                  <a:srgbClr val="1E354D"/>
                </a:solidFill>
                <a:latin typeface="Aptos"/>
              </a:rPr>
              <a:t>
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4204" y="3551714"/>
            <a:ext cx="4864608" cy="2395728"/>
          </a:xfrm>
          <a:prstGeom prst="rect">
            <a:avLst/>
          </a:prstGeom>
          <a:solidFill>
            <a:srgbClr val="FFEED6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486400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4. BOND-LINE FORMULA (KETCHER)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961994"/>
            <a:ext cx="4718304" cy="911019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sz="1100" b="0" dirty="0">
                <a:solidFill>
                  <a:srgbClr val="1E354D"/>
                </a:solidFill>
                <a:latin typeface="Aptos"/>
              </a:rPr>
              <a:t>
</a:t>
            </a:r>
            <a:endParaRPr lang="pt-BR" sz="1100" dirty="0">
              <a:solidFill>
                <a:srgbClr val="1E354D"/>
              </a:solidFill>
              <a:latin typeface="Aptos"/>
            </a:endParaRPr>
          </a:p>
          <a:p>
            <a:pPr algn="l"/>
            <a:endParaRPr lang="pt-BR" sz="1100" b="0" dirty="0">
              <a:solidFill>
                <a:srgbClr val="1E354D"/>
              </a:solidFill>
              <a:latin typeface="Aptos"/>
            </a:endParaRPr>
          </a:p>
          <a:p>
            <a:pPr algn="l"/>
            <a:r>
              <a:rPr sz="1100" b="0" dirty="0">
                <a:solidFill>
                  <a:srgbClr val="1E354D"/>
                </a:solidFill>
                <a:latin typeface="Aptos"/>
              </a:rPr>
              <a:t>
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108192"/>
            <a:ext cx="9866376" cy="685800"/>
          </a:xfrm>
          <a:prstGeom prst="rect">
            <a:avLst/>
          </a:prstGeom>
          <a:solidFill>
            <a:srgbClr val="DEF1E2"/>
          </a:solidFill>
          <a:ln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190488"/>
            <a:ext cx="95554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1">
                <a:solidFill>
                  <a:srgbClr val="1E354D"/>
                </a:solidFill>
                <a:latin typeface="Aptos"/>
              </a:rPr>
              <a:t>VERIFICATION STRIP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955548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0" dirty="0">
                <a:solidFill>
                  <a:srgbClr val="1E354D"/>
                </a:solidFill>
                <a:latin typeface="Aptos"/>
              </a:rPr>
              <a:t>☐ atom count verified     ☐ valence checked     ☐ bond order checked     ☐ same connectivity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7022592"/>
            <a:ext cx="9866376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800" b="0">
                <a:solidFill>
                  <a:srgbClr val="64707C"/>
                </a:solidFill>
                <a:latin typeface="Aptos"/>
              </a:rPr>
              <a:t>CHEM 13 | Organic Chemistry (Lecture) | Bicol University — College of Engineering | Department of Chemical Engineering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1060F94-0BA2-E77E-C915-8D06C279C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421" y="4280939"/>
            <a:ext cx="951287" cy="925918"/>
          </a:xfrm>
          <a:prstGeom prst="rect">
            <a:avLst/>
          </a:prstGeom>
        </p:spPr>
      </p:pic>
      <p:sp>
        <p:nvSpPr>
          <p:cNvPr id="22" name="object 26">
            <a:extLst>
              <a:ext uri="{FF2B5EF4-FFF2-40B4-BE49-F238E27FC236}">
                <a16:creationId xmlns:a16="http://schemas.microsoft.com/office/drawing/2014/main" id="{1B7363B9-8291-4C31-1EBE-F3245EC6FFCC}"/>
              </a:ext>
            </a:extLst>
          </p:cNvPr>
          <p:cNvSpPr/>
          <p:nvPr/>
        </p:nvSpPr>
        <p:spPr>
          <a:xfrm>
            <a:off x="6970360" y="2025762"/>
            <a:ext cx="1862455" cy="842644"/>
          </a:xfrm>
          <a:custGeom>
            <a:avLst/>
            <a:gdLst/>
            <a:ahLst/>
            <a:cxnLst/>
            <a:rect l="l" t="t" r="r" b="b"/>
            <a:pathLst>
              <a:path w="1862454" h="842644">
                <a:moveTo>
                  <a:pt x="435863" y="495300"/>
                </a:moveTo>
                <a:lnTo>
                  <a:pt x="842263" y="495300"/>
                </a:lnTo>
              </a:path>
              <a:path w="1862454" h="842644">
                <a:moveTo>
                  <a:pt x="1020063" y="495300"/>
                </a:moveTo>
                <a:lnTo>
                  <a:pt x="1426463" y="495300"/>
                </a:lnTo>
              </a:path>
              <a:path w="1862454" h="842644">
                <a:moveTo>
                  <a:pt x="957833" y="406400"/>
                </a:moveTo>
                <a:lnTo>
                  <a:pt x="957833" y="0"/>
                </a:lnTo>
              </a:path>
              <a:path w="1862454" h="842644">
                <a:moveTo>
                  <a:pt x="904494" y="406400"/>
                </a:moveTo>
                <a:lnTo>
                  <a:pt x="904494" y="0"/>
                </a:lnTo>
              </a:path>
              <a:path w="1862454" h="842644">
                <a:moveTo>
                  <a:pt x="258063" y="495300"/>
                </a:moveTo>
                <a:lnTo>
                  <a:pt x="0" y="495300"/>
                </a:lnTo>
              </a:path>
              <a:path w="1862454" h="842644">
                <a:moveTo>
                  <a:pt x="346963" y="584200"/>
                </a:moveTo>
                <a:lnTo>
                  <a:pt x="346963" y="842263"/>
                </a:lnTo>
              </a:path>
              <a:path w="1862454" h="842644">
                <a:moveTo>
                  <a:pt x="346963" y="406400"/>
                </a:moveTo>
                <a:lnTo>
                  <a:pt x="346963" y="148336"/>
                </a:lnTo>
              </a:path>
              <a:path w="1862454" h="842644">
                <a:moveTo>
                  <a:pt x="1604263" y="495300"/>
                </a:moveTo>
                <a:lnTo>
                  <a:pt x="1862327" y="495300"/>
                </a:lnTo>
              </a:path>
              <a:path w="1862454" h="842644">
                <a:moveTo>
                  <a:pt x="1515363" y="584200"/>
                </a:moveTo>
                <a:lnTo>
                  <a:pt x="1515363" y="842263"/>
                </a:lnTo>
              </a:path>
              <a:path w="1862454" h="842644">
                <a:moveTo>
                  <a:pt x="1515363" y="406400"/>
                </a:moveTo>
                <a:lnTo>
                  <a:pt x="1515363" y="148336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8">
            <a:extLst>
              <a:ext uri="{FF2B5EF4-FFF2-40B4-BE49-F238E27FC236}">
                <a16:creationId xmlns:a16="http://schemas.microsoft.com/office/drawing/2014/main" id="{DC0C035D-8729-E5F9-5B83-E5A5D3779606}"/>
              </a:ext>
            </a:extLst>
          </p:cNvPr>
          <p:cNvSpPr txBox="1"/>
          <p:nvPr/>
        </p:nvSpPr>
        <p:spPr>
          <a:xfrm>
            <a:off x="78465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AE7A8FF1-ED8C-971B-2008-F450259A8B40}"/>
              </a:ext>
            </a:extLst>
          </p:cNvPr>
          <p:cNvSpPr txBox="1"/>
          <p:nvPr/>
        </p:nvSpPr>
        <p:spPr>
          <a:xfrm>
            <a:off x="72623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6E4B7414-CE3C-E56C-7C0A-9B2D30EBB3D5}"/>
              </a:ext>
            </a:extLst>
          </p:cNvPr>
          <p:cNvSpPr txBox="1"/>
          <p:nvPr/>
        </p:nvSpPr>
        <p:spPr>
          <a:xfrm>
            <a:off x="6841683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D534FD1B-9840-D08F-3468-D3284A2C1437}"/>
              </a:ext>
            </a:extLst>
          </p:cNvPr>
          <p:cNvSpPr txBox="1"/>
          <p:nvPr/>
        </p:nvSpPr>
        <p:spPr>
          <a:xfrm>
            <a:off x="7262308" y="283145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5" name="object 32">
            <a:extLst>
              <a:ext uri="{FF2B5EF4-FFF2-40B4-BE49-F238E27FC236}">
                <a16:creationId xmlns:a16="http://schemas.microsoft.com/office/drawing/2014/main" id="{CBDC5D1E-993C-D2C0-74F0-B5CD5818F68E}"/>
              </a:ext>
            </a:extLst>
          </p:cNvPr>
          <p:cNvSpPr txBox="1"/>
          <p:nvPr/>
        </p:nvSpPr>
        <p:spPr>
          <a:xfrm>
            <a:off x="7262308" y="199020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7" name="object 29">
            <a:extLst>
              <a:ext uri="{FF2B5EF4-FFF2-40B4-BE49-F238E27FC236}">
                <a16:creationId xmlns:a16="http://schemas.microsoft.com/office/drawing/2014/main" id="{F1CA7B4C-B6E0-9D50-0583-40E9C45B45C1}"/>
              </a:ext>
            </a:extLst>
          </p:cNvPr>
          <p:cNvSpPr txBox="1"/>
          <p:nvPr/>
        </p:nvSpPr>
        <p:spPr>
          <a:xfrm>
            <a:off x="7842241" y="1826626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1" name="object 35">
            <a:extLst>
              <a:ext uri="{FF2B5EF4-FFF2-40B4-BE49-F238E27FC236}">
                <a16:creationId xmlns:a16="http://schemas.microsoft.com/office/drawing/2014/main" id="{AE9AA440-753E-9019-61DD-81DDABFD6FD3}"/>
              </a:ext>
            </a:extLst>
          </p:cNvPr>
          <p:cNvSpPr txBox="1"/>
          <p:nvPr/>
        </p:nvSpPr>
        <p:spPr>
          <a:xfrm>
            <a:off x="8430708" y="283145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3" name="object 36">
            <a:extLst>
              <a:ext uri="{FF2B5EF4-FFF2-40B4-BE49-F238E27FC236}">
                <a16:creationId xmlns:a16="http://schemas.microsoft.com/office/drawing/2014/main" id="{C785D83A-F222-48E7-BF53-3887F0F15172}"/>
              </a:ext>
            </a:extLst>
          </p:cNvPr>
          <p:cNvSpPr txBox="1"/>
          <p:nvPr/>
        </p:nvSpPr>
        <p:spPr>
          <a:xfrm>
            <a:off x="8430708" y="199020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5" name="object 37">
            <a:extLst>
              <a:ext uri="{FF2B5EF4-FFF2-40B4-BE49-F238E27FC236}">
                <a16:creationId xmlns:a16="http://schemas.microsoft.com/office/drawing/2014/main" id="{D2450458-913C-A084-7871-3CE87795BD24}"/>
              </a:ext>
            </a:extLst>
          </p:cNvPr>
          <p:cNvSpPr/>
          <p:nvPr/>
        </p:nvSpPr>
        <p:spPr>
          <a:xfrm>
            <a:off x="7767015" y="1834902"/>
            <a:ext cx="269240" cy="85090"/>
          </a:xfrm>
          <a:custGeom>
            <a:avLst/>
            <a:gdLst/>
            <a:ahLst/>
            <a:cxnLst/>
            <a:rect l="l" t="t" r="r" b="b"/>
            <a:pathLst>
              <a:path w="269240" h="85089">
                <a:moveTo>
                  <a:pt x="31750" y="59905"/>
                </a:moveTo>
                <a:lnTo>
                  <a:pt x="24650" y="52793"/>
                </a:lnTo>
                <a:lnTo>
                  <a:pt x="7112" y="52793"/>
                </a:lnTo>
                <a:lnTo>
                  <a:pt x="0" y="59905"/>
                </a:lnTo>
                <a:lnTo>
                  <a:pt x="0" y="77444"/>
                </a:lnTo>
                <a:lnTo>
                  <a:pt x="7112" y="84543"/>
                </a:lnTo>
                <a:lnTo>
                  <a:pt x="24650" y="84543"/>
                </a:lnTo>
                <a:lnTo>
                  <a:pt x="31750" y="77444"/>
                </a:lnTo>
                <a:lnTo>
                  <a:pt x="31750" y="68668"/>
                </a:lnTo>
                <a:lnTo>
                  <a:pt x="31750" y="59905"/>
                </a:lnTo>
                <a:close/>
              </a:path>
              <a:path w="269240" h="85089">
                <a:moveTo>
                  <a:pt x="62230" y="7112"/>
                </a:moveTo>
                <a:lnTo>
                  <a:pt x="55130" y="0"/>
                </a:lnTo>
                <a:lnTo>
                  <a:pt x="37592" y="0"/>
                </a:lnTo>
                <a:lnTo>
                  <a:pt x="30480" y="7112"/>
                </a:lnTo>
                <a:lnTo>
                  <a:pt x="30480" y="24650"/>
                </a:lnTo>
                <a:lnTo>
                  <a:pt x="37592" y="31750"/>
                </a:lnTo>
                <a:lnTo>
                  <a:pt x="55130" y="31750"/>
                </a:lnTo>
                <a:lnTo>
                  <a:pt x="62230" y="24650"/>
                </a:lnTo>
                <a:lnTo>
                  <a:pt x="62230" y="15875"/>
                </a:lnTo>
                <a:lnTo>
                  <a:pt x="62230" y="7112"/>
                </a:lnTo>
                <a:close/>
              </a:path>
              <a:path w="269240" h="85089">
                <a:moveTo>
                  <a:pt x="238531" y="7112"/>
                </a:moveTo>
                <a:lnTo>
                  <a:pt x="231419" y="0"/>
                </a:lnTo>
                <a:lnTo>
                  <a:pt x="213880" y="0"/>
                </a:lnTo>
                <a:lnTo>
                  <a:pt x="206781" y="7112"/>
                </a:lnTo>
                <a:lnTo>
                  <a:pt x="206781" y="24650"/>
                </a:lnTo>
                <a:lnTo>
                  <a:pt x="213880" y="31750"/>
                </a:lnTo>
                <a:lnTo>
                  <a:pt x="231419" y="31750"/>
                </a:lnTo>
                <a:lnTo>
                  <a:pt x="238531" y="24650"/>
                </a:lnTo>
                <a:lnTo>
                  <a:pt x="238531" y="15875"/>
                </a:lnTo>
                <a:lnTo>
                  <a:pt x="238531" y="7112"/>
                </a:lnTo>
                <a:close/>
              </a:path>
              <a:path w="269240" h="85089">
                <a:moveTo>
                  <a:pt x="269011" y="59905"/>
                </a:moveTo>
                <a:lnTo>
                  <a:pt x="261899" y="52793"/>
                </a:lnTo>
                <a:lnTo>
                  <a:pt x="244360" y="52793"/>
                </a:lnTo>
                <a:lnTo>
                  <a:pt x="237261" y="59905"/>
                </a:lnTo>
                <a:lnTo>
                  <a:pt x="237261" y="77444"/>
                </a:lnTo>
                <a:lnTo>
                  <a:pt x="244360" y="84543"/>
                </a:lnTo>
                <a:lnTo>
                  <a:pt x="261899" y="84543"/>
                </a:lnTo>
                <a:lnTo>
                  <a:pt x="269011" y="77444"/>
                </a:lnTo>
                <a:lnTo>
                  <a:pt x="269011" y="68668"/>
                </a:lnTo>
                <a:lnTo>
                  <a:pt x="269011" y="59905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9">
            <a:extLst>
              <a:ext uri="{FF2B5EF4-FFF2-40B4-BE49-F238E27FC236}">
                <a16:creationId xmlns:a16="http://schemas.microsoft.com/office/drawing/2014/main" id="{2F804646-983E-14D0-55CD-53723FBB7A2A}"/>
              </a:ext>
            </a:extLst>
          </p:cNvPr>
          <p:cNvSpPr txBox="1"/>
          <p:nvPr/>
        </p:nvSpPr>
        <p:spPr>
          <a:xfrm>
            <a:off x="84307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9" name="object 34">
            <a:extLst>
              <a:ext uri="{FF2B5EF4-FFF2-40B4-BE49-F238E27FC236}">
                <a16:creationId xmlns:a16="http://schemas.microsoft.com/office/drawing/2014/main" id="{C5ADDF2E-7617-01EF-69EB-1EB1C5284C38}"/>
              </a:ext>
            </a:extLst>
          </p:cNvPr>
          <p:cNvSpPr txBox="1"/>
          <p:nvPr/>
        </p:nvSpPr>
        <p:spPr>
          <a:xfrm>
            <a:off x="8851332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1" name="object 45">
            <a:extLst>
              <a:ext uri="{FF2B5EF4-FFF2-40B4-BE49-F238E27FC236}">
                <a16:creationId xmlns:a16="http://schemas.microsoft.com/office/drawing/2014/main" id="{547A59C5-9467-E366-5380-0FF12AB79DE2}"/>
              </a:ext>
            </a:extLst>
          </p:cNvPr>
          <p:cNvSpPr/>
          <p:nvPr/>
        </p:nvSpPr>
        <p:spPr>
          <a:xfrm>
            <a:off x="5054294" y="6496367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45">
            <a:extLst>
              <a:ext uri="{FF2B5EF4-FFF2-40B4-BE49-F238E27FC236}">
                <a16:creationId xmlns:a16="http://schemas.microsoft.com/office/drawing/2014/main" id="{324E54DC-481B-2694-EBE0-26436091FE3C}"/>
              </a:ext>
            </a:extLst>
          </p:cNvPr>
          <p:cNvSpPr/>
          <p:nvPr/>
        </p:nvSpPr>
        <p:spPr>
          <a:xfrm>
            <a:off x="3872753" y="6496366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45">
            <a:extLst>
              <a:ext uri="{FF2B5EF4-FFF2-40B4-BE49-F238E27FC236}">
                <a16:creationId xmlns:a16="http://schemas.microsoft.com/office/drawing/2014/main" id="{CCCABBAB-5ABB-0C5E-5E13-67794E3A3542}"/>
              </a:ext>
            </a:extLst>
          </p:cNvPr>
          <p:cNvSpPr/>
          <p:nvPr/>
        </p:nvSpPr>
        <p:spPr>
          <a:xfrm>
            <a:off x="2585414" y="6496365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45">
            <a:extLst>
              <a:ext uri="{FF2B5EF4-FFF2-40B4-BE49-F238E27FC236}">
                <a16:creationId xmlns:a16="http://schemas.microsoft.com/office/drawing/2014/main" id="{06735A09-0DA4-64C4-7381-018E61C88EB5}"/>
              </a:ext>
            </a:extLst>
          </p:cNvPr>
          <p:cNvSpPr/>
          <p:nvPr/>
        </p:nvSpPr>
        <p:spPr>
          <a:xfrm>
            <a:off x="6397666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9866376" cy="658368"/>
          </a:xfrm>
          <a:prstGeom prst="rect">
            <a:avLst/>
          </a:prstGeom>
          <a:solidFill>
            <a:srgbClr val="1E354D"/>
          </a:solidFill>
          <a:ln>
            <a:solidFill>
              <a:srgbClr val="1E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93192"/>
            <a:ext cx="95554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CARD 04 — ACETIC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94944"/>
            <a:ext cx="941832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Molecular Formula: C₂H₄O₂     |     IUPAC name: Ethanoic acid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70432"/>
            <a:ext cx="4864608" cy="2240280"/>
          </a:xfrm>
          <a:prstGeom prst="rect">
            <a:avLst/>
          </a:prstGeom>
          <a:solidFill>
            <a:srgbClr val="E2EBF4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1. MOLECULAR FORMULA / IDENTITY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52932" y="1930765"/>
            <a:ext cx="2312356" cy="68018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4000" b="1" dirty="0">
                <a:solidFill>
                  <a:srgbClr val="1E354D"/>
                </a:solidFill>
                <a:latin typeface="Aptos"/>
              </a:rPr>
              <a:t>C₂H₄O₂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3248" y="1170432"/>
            <a:ext cx="4864608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2. LEWIS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82" y="3575304"/>
            <a:ext cx="4864608" cy="2395728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3. CONDENSED STRUCTURAL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7388" y="4385323"/>
            <a:ext cx="3346532" cy="1141851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4000" b="1" dirty="0">
                <a:solidFill>
                  <a:srgbClr val="1E354D"/>
                </a:solidFill>
                <a:latin typeface="Aptos"/>
              </a:rPr>
              <a:t>CH₃C</a:t>
            </a:r>
            <a:r>
              <a:rPr lang="en-US" sz="4000" b="1" dirty="0">
                <a:solidFill>
                  <a:srgbClr val="1E354D"/>
                </a:solidFill>
                <a:latin typeface="Aptos"/>
              </a:rPr>
              <a:t>(=</a:t>
            </a:r>
            <a:r>
              <a:rPr sz="4000" b="1" dirty="0">
                <a:solidFill>
                  <a:srgbClr val="1E354D"/>
                </a:solidFill>
                <a:latin typeface="Aptos"/>
              </a:rPr>
              <a:t>O</a:t>
            </a:r>
            <a:r>
              <a:rPr lang="en-US" sz="4000" b="1" dirty="0">
                <a:solidFill>
                  <a:srgbClr val="1E354D"/>
                </a:solidFill>
                <a:latin typeface="Aptos"/>
              </a:rPr>
              <a:t>)</a:t>
            </a:r>
            <a:r>
              <a:rPr sz="4000" b="1" dirty="0">
                <a:solidFill>
                  <a:srgbClr val="1E354D"/>
                </a:solidFill>
                <a:latin typeface="Aptos"/>
              </a:rPr>
              <a:t>OH</a:t>
            </a:r>
            <a:r>
              <a:rPr sz="1500" b="0" dirty="0">
                <a:solidFill>
                  <a:srgbClr val="1E354D"/>
                </a:solidFill>
                <a:latin typeface="Aptos"/>
              </a:rPr>
              <a:t>
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3248" y="3566160"/>
            <a:ext cx="4864608" cy="2395728"/>
          </a:xfrm>
          <a:prstGeom prst="rect">
            <a:avLst/>
          </a:prstGeom>
          <a:solidFill>
            <a:srgbClr val="FFEED6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486400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dirty="0">
                <a:solidFill>
                  <a:srgbClr val="1E354D"/>
                </a:solidFill>
                <a:latin typeface="Aptos"/>
              </a:rPr>
              <a:t>4. BOND-LINE FORMULA (KETCHER)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108192"/>
            <a:ext cx="9866376" cy="685800"/>
          </a:xfrm>
          <a:prstGeom prst="rect">
            <a:avLst/>
          </a:prstGeom>
          <a:solidFill>
            <a:srgbClr val="DEF1E2"/>
          </a:solidFill>
          <a:ln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190488"/>
            <a:ext cx="95554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1">
                <a:solidFill>
                  <a:srgbClr val="1E354D"/>
                </a:solidFill>
                <a:latin typeface="Aptos"/>
              </a:rPr>
              <a:t>VERIFICATION STRIP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955548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0" dirty="0">
                <a:solidFill>
                  <a:srgbClr val="1E354D"/>
                </a:solidFill>
                <a:latin typeface="Aptos"/>
              </a:rPr>
              <a:t>☐ atom count verified     ☐ valence checked     ☐ bond order checked     ☐ same connectivity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7022592"/>
            <a:ext cx="9866376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800" b="0" dirty="0">
                <a:solidFill>
                  <a:srgbClr val="64707C"/>
                </a:solidFill>
                <a:latin typeface="Aptos"/>
              </a:rPr>
              <a:t>CHEM 13 | Organic Chemistry (Lecture) | Bicol University — College of Engineering | Department of Chemical Engineering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FE52EC3-E977-79D5-9A5C-D73506DC1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497" y="4241492"/>
            <a:ext cx="1140647" cy="1075093"/>
          </a:xfrm>
          <a:prstGeom prst="rect">
            <a:avLst/>
          </a:prstGeom>
        </p:spPr>
      </p:pic>
      <p:sp>
        <p:nvSpPr>
          <p:cNvPr id="21" name="object 26">
            <a:extLst>
              <a:ext uri="{FF2B5EF4-FFF2-40B4-BE49-F238E27FC236}">
                <a16:creationId xmlns:a16="http://schemas.microsoft.com/office/drawing/2014/main" id="{3093BAAA-A206-FCBB-71F8-E0FE4E9284BE}"/>
              </a:ext>
            </a:extLst>
          </p:cNvPr>
          <p:cNvSpPr/>
          <p:nvPr/>
        </p:nvSpPr>
        <p:spPr>
          <a:xfrm>
            <a:off x="6970360" y="2025762"/>
            <a:ext cx="1862455" cy="842644"/>
          </a:xfrm>
          <a:custGeom>
            <a:avLst/>
            <a:gdLst/>
            <a:ahLst/>
            <a:cxnLst/>
            <a:rect l="l" t="t" r="r" b="b"/>
            <a:pathLst>
              <a:path w="1862454" h="842644">
                <a:moveTo>
                  <a:pt x="435863" y="495300"/>
                </a:moveTo>
                <a:lnTo>
                  <a:pt x="842263" y="495300"/>
                </a:lnTo>
              </a:path>
              <a:path w="1862454" h="842644">
                <a:moveTo>
                  <a:pt x="957833" y="406400"/>
                </a:moveTo>
                <a:lnTo>
                  <a:pt x="957833" y="0"/>
                </a:lnTo>
              </a:path>
              <a:path w="1862454" h="842644">
                <a:moveTo>
                  <a:pt x="904494" y="406400"/>
                </a:moveTo>
                <a:lnTo>
                  <a:pt x="904494" y="0"/>
                </a:lnTo>
              </a:path>
              <a:path w="1862454" h="842644">
                <a:moveTo>
                  <a:pt x="1020063" y="495300"/>
                </a:moveTo>
                <a:lnTo>
                  <a:pt x="1426463" y="495300"/>
                </a:lnTo>
              </a:path>
              <a:path w="1862454" h="842644">
                <a:moveTo>
                  <a:pt x="258063" y="495300"/>
                </a:moveTo>
                <a:lnTo>
                  <a:pt x="0" y="495300"/>
                </a:lnTo>
              </a:path>
              <a:path w="1862454" h="842644">
                <a:moveTo>
                  <a:pt x="346963" y="584200"/>
                </a:moveTo>
                <a:lnTo>
                  <a:pt x="346963" y="842263"/>
                </a:lnTo>
              </a:path>
              <a:path w="1862454" h="842644">
                <a:moveTo>
                  <a:pt x="346963" y="406400"/>
                </a:moveTo>
                <a:lnTo>
                  <a:pt x="346963" y="148336"/>
                </a:lnTo>
              </a:path>
              <a:path w="1862454" h="842644">
                <a:moveTo>
                  <a:pt x="1604263" y="495300"/>
                </a:moveTo>
                <a:lnTo>
                  <a:pt x="1862327" y="495300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30">
            <a:extLst>
              <a:ext uri="{FF2B5EF4-FFF2-40B4-BE49-F238E27FC236}">
                <a16:creationId xmlns:a16="http://schemas.microsoft.com/office/drawing/2014/main" id="{4DC6F635-F468-5A4A-C94D-5080954D1FA7}"/>
              </a:ext>
            </a:extLst>
          </p:cNvPr>
          <p:cNvSpPr txBox="1"/>
          <p:nvPr/>
        </p:nvSpPr>
        <p:spPr>
          <a:xfrm>
            <a:off x="6841683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8" name="object 31">
            <a:extLst>
              <a:ext uri="{FF2B5EF4-FFF2-40B4-BE49-F238E27FC236}">
                <a16:creationId xmlns:a16="http://schemas.microsoft.com/office/drawing/2014/main" id="{DE4FA59C-5D9C-01FE-406A-FDBE008D6F76}"/>
              </a:ext>
            </a:extLst>
          </p:cNvPr>
          <p:cNvSpPr txBox="1"/>
          <p:nvPr/>
        </p:nvSpPr>
        <p:spPr>
          <a:xfrm>
            <a:off x="7262308" y="283145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0" name="object 32">
            <a:extLst>
              <a:ext uri="{FF2B5EF4-FFF2-40B4-BE49-F238E27FC236}">
                <a16:creationId xmlns:a16="http://schemas.microsoft.com/office/drawing/2014/main" id="{240B8D2C-80BC-E668-DE4B-DE0D94470948}"/>
              </a:ext>
            </a:extLst>
          </p:cNvPr>
          <p:cNvSpPr txBox="1"/>
          <p:nvPr/>
        </p:nvSpPr>
        <p:spPr>
          <a:xfrm>
            <a:off x="7262308" y="199020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7F40E3DE-4920-F29C-5B3F-EA49471755B1}"/>
              </a:ext>
            </a:extLst>
          </p:cNvPr>
          <p:cNvSpPr txBox="1"/>
          <p:nvPr/>
        </p:nvSpPr>
        <p:spPr>
          <a:xfrm>
            <a:off x="72623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4" name="object 28">
            <a:extLst>
              <a:ext uri="{FF2B5EF4-FFF2-40B4-BE49-F238E27FC236}">
                <a16:creationId xmlns:a16="http://schemas.microsoft.com/office/drawing/2014/main" id="{2C9430A5-4E49-9F9A-7E27-12EC0F58C066}"/>
              </a:ext>
            </a:extLst>
          </p:cNvPr>
          <p:cNvSpPr txBox="1"/>
          <p:nvPr/>
        </p:nvSpPr>
        <p:spPr>
          <a:xfrm>
            <a:off x="78465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6" name="object 33">
            <a:extLst>
              <a:ext uri="{FF2B5EF4-FFF2-40B4-BE49-F238E27FC236}">
                <a16:creationId xmlns:a16="http://schemas.microsoft.com/office/drawing/2014/main" id="{43E7603F-19A1-DDDA-407F-D149E42FB071}"/>
              </a:ext>
            </a:extLst>
          </p:cNvPr>
          <p:cNvSpPr txBox="1"/>
          <p:nvPr/>
        </p:nvSpPr>
        <p:spPr>
          <a:xfrm>
            <a:off x="8426441" y="2410826"/>
            <a:ext cx="548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24815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5DAF2B65-5A53-B6EF-52F2-1B4B48B0C367}"/>
              </a:ext>
            </a:extLst>
          </p:cNvPr>
          <p:cNvSpPr txBox="1"/>
          <p:nvPr/>
        </p:nvSpPr>
        <p:spPr>
          <a:xfrm>
            <a:off x="7842241" y="1826626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0" name="object 34">
            <a:extLst>
              <a:ext uri="{FF2B5EF4-FFF2-40B4-BE49-F238E27FC236}">
                <a16:creationId xmlns:a16="http://schemas.microsoft.com/office/drawing/2014/main" id="{A213F376-618C-64C2-8C89-188AE60DD79F}"/>
              </a:ext>
            </a:extLst>
          </p:cNvPr>
          <p:cNvSpPr/>
          <p:nvPr/>
        </p:nvSpPr>
        <p:spPr>
          <a:xfrm>
            <a:off x="7767015" y="1834902"/>
            <a:ext cx="765175" cy="821690"/>
          </a:xfrm>
          <a:custGeom>
            <a:avLst/>
            <a:gdLst/>
            <a:ahLst/>
            <a:cxnLst/>
            <a:rect l="l" t="t" r="r" b="b"/>
            <a:pathLst>
              <a:path w="765175" h="821689">
                <a:moveTo>
                  <a:pt x="31750" y="59905"/>
                </a:moveTo>
                <a:lnTo>
                  <a:pt x="24650" y="52793"/>
                </a:lnTo>
                <a:lnTo>
                  <a:pt x="7112" y="52793"/>
                </a:lnTo>
                <a:lnTo>
                  <a:pt x="0" y="59905"/>
                </a:lnTo>
                <a:lnTo>
                  <a:pt x="0" y="77444"/>
                </a:lnTo>
                <a:lnTo>
                  <a:pt x="7112" y="84543"/>
                </a:lnTo>
                <a:lnTo>
                  <a:pt x="24650" y="84543"/>
                </a:lnTo>
                <a:lnTo>
                  <a:pt x="31750" y="77444"/>
                </a:lnTo>
                <a:lnTo>
                  <a:pt x="31750" y="68668"/>
                </a:lnTo>
                <a:lnTo>
                  <a:pt x="31750" y="59905"/>
                </a:lnTo>
                <a:close/>
              </a:path>
              <a:path w="765175" h="821689">
                <a:moveTo>
                  <a:pt x="62230" y="7112"/>
                </a:moveTo>
                <a:lnTo>
                  <a:pt x="55130" y="0"/>
                </a:lnTo>
                <a:lnTo>
                  <a:pt x="37592" y="0"/>
                </a:lnTo>
                <a:lnTo>
                  <a:pt x="30480" y="7112"/>
                </a:lnTo>
                <a:lnTo>
                  <a:pt x="30480" y="24650"/>
                </a:lnTo>
                <a:lnTo>
                  <a:pt x="37592" y="31750"/>
                </a:lnTo>
                <a:lnTo>
                  <a:pt x="55130" y="31750"/>
                </a:lnTo>
                <a:lnTo>
                  <a:pt x="62230" y="24650"/>
                </a:lnTo>
                <a:lnTo>
                  <a:pt x="62230" y="15875"/>
                </a:lnTo>
                <a:lnTo>
                  <a:pt x="62230" y="7112"/>
                </a:lnTo>
                <a:close/>
              </a:path>
              <a:path w="765175" h="821689">
                <a:moveTo>
                  <a:pt x="238531" y="7112"/>
                </a:moveTo>
                <a:lnTo>
                  <a:pt x="231419" y="0"/>
                </a:lnTo>
                <a:lnTo>
                  <a:pt x="213880" y="0"/>
                </a:lnTo>
                <a:lnTo>
                  <a:pt x="206781" y="7112"/>
                </a:lnTo>
                <a:lnTo>
                  <a:pt x="206781" y="24650"/>
                </a:lnTo>
                <a:lnTo>
                  <a:pt x="213880" y="31750"/>
                </a:lnTo>
                <a:lnTo>
                  <a:pt x="231419" y="31750"/>
                </a:lnTo>
                <a:lnTo>
                  <a:pt x="238531" y="24650"/>
                </a:lnTo>
                <a:lnTo>
                  <a:pt x="238531" y="15875"/>
                </a:lnTo>
                <a:lnTo>
                  <a:pt x="238531" y="7112"/>
                </a:lnTo>
                <a:close/>
              </a:path>
              <a:path w="765175" h="821689">
                <a:moveTo>
                  <a:pt x="269011" y="59905"/>
                </a:moveTo>
                <a:lnTo>
                  <a:pt x="261899" y="52793"/>
                </a:lnTo>
                <a:lnTo>
                  <a:pt x="244360" y="52793"/>
                </a:lnTo>
                <a:lnTo>
                  <a:pt x="237261" y="59905"/>
                </a:lnTo>
                <a:lnTo>
                  <a:pt x="237261" y="77444"/>
                </a:lnTo>
                <a:lnTo>
                  <a:pt x="244360" y="84543"/>
                </a:lnTo>
                <a:lnTo>
                  <a:pt x="261899" y="84543"/>
                </a:lnTo>
                <a:lnTo>
                  <a:pt x="269011" y="77444"/>
                </a:lnTo>
                <a:lnTo>
                  <a:pt x="269011" y="68668"/>
                </a:lnTo>
                <a:lnTo>
                  <a:pt x="269011" y="59905"/>
                </a:lnTo>
                <a:close/>
              </a:path>
              <a:path w="765175" h="821689">
                <a:moveTo>
                  <a:pt x="704100" y="796772"/>
                </a:moveTo>
                <a:lnTo>
                  <a:pt x="696988" y="789673"/>
                </a:lnTo>
                <a:lnTo>
                  <a:pt x="679462" y="789673"/>
                </a:lnTo>
                <a:lnTo>
                  <a:pt x="672350" y="796772"/>
                </a:lnTo>
                <a:lnTo>
                  <a:pt x="672350" y="814311"/>
                </a:lnTo>
                <a:lnTo>
                  <a:pt x="679462" y="821423"/>
                </a:lnTo>
                <a:lnTo>
                  <a:pt x="696988" y="821423"/>
                </a:lnTo>
                <a:lnTo>
                  <a:pt x="704100" y="814311"/>
                </a:lnTo>
                <a:lnTo>
                  <a:pt x="704100" y="805548"/>
                </a:lnTo>
                <a:lnTo>
                  <a:pt x="704100" y="796772"/>
                </a:lnTo>
                <a:close/>
              </a:path>
              <a:path w="765175" h="821689">
                <a:moveTo>
                  <a:pt x="704100" y="558012"/>
                </a:moveTo>
                <a:lnTo>
                  <a:pt x="696988" y="550913"/>
                </a:lnTo>
                <a:lnTo>
                  <a:pt x="679462" y="550913"/>
                </a:lnTo>
                <a:lnTo>
                  <a:pt x="672350" y="558012"/>
                </a:lnTo>
                <a:lnTo>
                  <a:pt x="672350" y="575551"/>
                </a:lnTo>
                <a:lnTo>
                  <a:pt x="679462" y="582663"/>
                </a:lnTo>
                <a:lnTo>
                  <a:pt x="696988" y="582663"/>
                </a:lnTo>
                <a:lnTo>
                  <a:pt x="704100" y="575551"/>
                </a:lnTo>
                <a:lnTo>
                  <a:pt x="704100" y="566788"/>
                </a:lnTo>
                <a:lnTo>
                  <a:pt x="704100" y="558012"/>
                </a:lnTo>
                <a:close/>
              </a:path>
              <a:path w="765175" h="821689">
                <a:moveTo>
                  <a:pt x="765060" y="796772"/>
                </a:moveTo>
                <a:lnTo>
                  <a:pt x="757948" y="789673"/>
                </a:lnTo>
                <a:lnTo>
                  <a:pt x="740422" y="789673"/>
                </a:lnTo>
                <a:lnTo>
                  <a:pt x="733310" y="796772"/>
                </a:lnTo>
                <a:lnTo>
                  <a:pt x="733310" y="814311"/>
                </a:lnTo>
                <a:lnTo>
                  <a:pt x="740422" y="821423"/>
                </a:lnTo>
                <a:lnTo>
                  <a:pt x="757948" y="821423"/>
                </a:lnTo>
                <a:lnTo>
                  <a:pt x="765060" y="814311"/>
                </a:lnTo>
                <a:lnTo>
                  <a:pt x="765060" y="805548"/>
                </a:lnTo>
                <a:lnTo>
                  <a:pt x="765060" y="796772"/>
                </a:lnTo>
                <a:close/>
              </a:path>
              <a:path w="765175" h="821689">
                <a:moveTo>
                  <a:pt x="765060" y="558012"/>
                </a:moveTo>
                <a:lnTo>
                  <a:pt x="757948" y="550913"/>
                </a:lnTo>
                <a:lnTo>
                  <a:pt x="740422" y="550913"/>
                </a:lnTo>
                <a:lnTo>
                  <a:pt x="733310" y="558012"/>
                </a:lnTo>
                <a:lnTo>
                  <a:pt x="733310" y="575551"/>
                </a:lnTo>
                <a:lnTo>
                  <a:pt x="740422" y="582663"/>
                </a:lnTo>
                <a:lnTo>
                  <a:pt x="757948" y="582663"/>
                </a:lnTo>
                <a:lnTo>
                  <a:pt x="765060" y="575551"/>
                </a:lnTo>
                <a:lnTo>
                  <a:pt x="765060" y="566788"/>
                </a:lnTo>
                <a:lnTo>
                  <a:pt x="765060" y="558012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5">
            <a:extLst>
              <a:ext uri="{FF2B5EF4-FFF2-40B4-BE49-F238E27FC236}">
                <a16:creationId xmlns:a16="http://schemas.microsoft.com/office/drawing/2014/main" id="{A5976A0C-DB32-9E39-C204-44CF5FE6D671}"/>
              </a:ext>
            </a:extLst>
          </p:cNvPr>
          <p:cNvSpPr/>
          <p:nvPr/>
        </p:nvSpPr>
        <p:spPr>
          <a:xfrm>
            <a:off x="5054294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670B122F-0950-2495-B801-20EDEE8EEFD8}"/>
              </a:ext>
            </a:extLst>
          </p:cNvPr>
          <p:cNvSpPr/>
          <p:nvPr/>
        </p:nvSpPr>
        <p:spPr>
          <a:xfrm>
            <a:off x="3888434" y="6517703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94DEAA2F-080B-CAF2-A26B-27561C4808C9}"/>
              </a:ext>
            </a:extLst>
          </p:cNvPr>
          <p:cNvSpPr/>
          <p:nvPr/>
        </p:nvSpPr>
        <p:spPr>
          <a:xfrm>
            <a:off x="2593034" y="6503987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5">
            <a:extLst>
              <a:ext uri="{FF2B5EF4-FFF2-40B4-BE49-F238E27FC236}">
                <a16:creationId xmlns:a16="http://schemas.microsoft.com/office/drawing/2014/main" id="{C7731977-56B5-83C8-2A67-18C2EEB8146F}"/>
              </a:ext>
            </a:extLst>
          </p:cNvPr>
          <p:cNvSpPr/>
          <p:nvPr/>
        </p:nvSpPr>
        <p:spPr>
          <a:xfrm>
            <a:off x="6413347" y="6488303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9866376" cy="658368"/>
          </a:xfrm>
          <a:prstGeom prst="rect">
            <a:avLst/>
          </a:prstGeom>
          <a:solidFill>
            <a:srgbClr val="1E354D"/>
          </a:solidFill>
          <a:ln>
            <a:solidFill>
              <a:srgbClr val="1E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93192"/>
            <a:ext cx="95554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CARD 05 — ETHYL ACETATE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94944"/>
            <a:ext cx="941832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Molecular Formula: C₄H₈O₂     |     IUPAC name: Ethyl ethanoate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70432"/>
            <a:ext cx="4864608" cy="2240280"/>
          </a:xfrm>
          <a:prstGeom prst="rect">
            <a:avLst/>
          </a:prstGeom>
          <a:solidFill>
            <a:srgbClr val="E2EBF4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1. MOLECULAR FORMULA / IDENTITY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6095" y="1839709"/>
            <a:ext cx="4718304" cy="68018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4000" b="1" dirty="0">
                <a:solidFill>
                  <a:srgbClr val="1E354D"/>
                </a:solidFill>
                <a:latin typeface="Aptos"/>
              </a:rPr>
              <a:t>C₄H₈O₂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3248" y="1170432"/>
            <a:ext cx="4864608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2. LEWIS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782" y="3566160"/>
            <a:ext cx="4864608" cy="2395728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3. CONDENSED STRUCTURAL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934" y="4423931"/>
            <a:ext cx="4718304" cy="68018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4000" b="1" dirty="0">
                <a:solidFill>
                  <a:srgbClr val="1E354D"/>
                </a:solidFill>
                <a:latin typeface="Aptos"/>
              </a:rPr>
              <a:t>CH₃C</a:t>
            </a:r>
            <a:r>
              <a:rPr lang="en-US" sz="4000" b="1" dirty="0">
                <a:solidFill>
                  <a:srgbClr val="1E354D"/>
                </a:solidFill>
                <a:latin typeface="Aptos"/>
              </a:rPr>
              <a:t>(=</a:t>
            </a:r>
            <a:r>
              <a:rPr sz="4000" b="1" dirty="0">
                <a:solidFill>
                  <a:srgbClr val="1E354D"/>
                </a:solidFill>
                <a:latin typeface="Aptos"/>
              </a:rPr>
              <a:t>O</a:t>
            </a:r>
            <a:r>
              <a:rPr lang="en-US" sz="4000" b="1" dirty="0">
                <a:solidFill>
                  <a:srgbClr val="1E354D"/>
                </a:solidFill>
                <a:latin typeface="Aptos"/>
              </a:rPr>
              <a:t>)</a:t>
            </a:r>
            <a:r>
              <a:rPr sz="4000" b="1" dirty="0">
                <a:solidFill>
                  <a:srgbClr val="1E354D"/>
                </a:solidFill>
                <a:latin typeface="Aptos"/>
              </a:rPr>
              <a:t>OCH₂CH₃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3248" y="3566160"/>
            <a:ext cx="4864608" cy="2395728"/>
          </a:xfrm>
          <a:prstGeom prst="rect">
            <a:avLst/>
          </a:prstGeom>
          <a:solidFill>
            <a:srgbClr val="FFEED6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4. BOND-LINE FORMULA (KETCHER)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108192"/>
            <a:ext cx="9866376" cy="685800"/>
          </a:xfrm>
          <a:prstGeom prst="rect">
            <a:avLst/>
          </a:prstGeom>
          <a:solidFill>
            <a:srgbClr val="DEF1E2"/>
          </a:solidFill>
          <a:ln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190488"/>
            <a:ext cx="95554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1">
                <a:solidFill>
                  <a:srgbClr val="1E354D"/>
                </a:solidFill>
                <a:latin typeface="Aptos"/>
              </a:rPr>
              <a:t>VERIFICATION STRIP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955548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0" dirty="0">
                <a:solidFill>
                  <a:srgbClr val="1E354D"/>
                </a:solidFill>
                <a:latin typeface="Aptos"/>
              </a:rPr>
              <a:t>☐ atom count verified     ☐ valence checked     ☐ bond order checked     ☐ same connectivity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7022592"/>
            <a:ext cx="9866376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800" b="0" dirty="0">
                <a:solidFill>
                  <a:srgbClr val="64707C"/>
                </a:solidFill>
                <a:latin typeface="Aptos"/>
              </a:rPr>
              <a:t>CHEM 13 | Organic Chemistry (Lecture) | Bicol University — College of Engineering | Department of Chemical Engineering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47BEF7D-B506-E380-3DE6-AB2757487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716" y="4334230"/>
            <a:ext cx="1721939" cy="1040596"/>
          </a:xfrm>
          <a:prstGeom prst="rect">
            <a:avLst/>
          </a:prstGeom>
        </p:spPr>
      </p:pic>
      <p:sp>
        <p:nvSpPr>
          <p:cNvPr id="21" name="object 26">
            <a:extLst>
              <a:ext uri="{FF2B5EF4-FFF2-40B4-BE49-F238E27FC236}">
                <a16:creationId xmlns:a16="http://schemas.microsoft.com/office/drawing/2014/main" id="{0666ADD9-3AC2-233D-C018-9D819E5E3049}"/>
              </a:ext>
            </a:extLst>
          </p:cNvPr>
          <p:cNvSpPr/>
          <p:nvPr/>
        </p:nvSpPr>
        <p:spPr>
          <a:xfrm>
            <a:off x="6386160" y="2025762"/>
            <a:ext cx="3030855" cy="842644"/>
          </a:xfrm>
          <a:custGeom>
            <a:avLst/>
            <a:gdLst/>
            <a:ahLst/>
            <a:cxnLst/>
            <a:rect l="l" t="t" r="r" b="b"/>
            <a:pathLst>
              <a:path w="3030854" h="842644">
                <a:moveTo>
                  <a:pt x="435863" y="495300"/>
                </a:moveTo>
                <a:lnTo>
                  <a:pt x="842263" y="495300"/>
                </a:lnTo>
              </a:path>
              <a:path w="3030854" h="842644">
                <a:moveTo>
                  <a:pt x="957833" y="406400"/>
                </a:moveTo>
                <a:lnTo>
                  <a:pt x="957833" y="0"/>
                </a:lnTo>
              </a:path>
              <a:path w="3030854" h="842644">
                <a:moveTo>
                  <a:pt x="904494" y="406400"/>
                </a:moveTo>
                <a:lnTo>
                  <a:pt x="904494" y="0"/>
                </a:lnTo>
              </a:path>
              <a:path w="3030854" h="842644">
                <a:moveTo>
                  <a:pt x="1020063" y="495300"/>
                </a:moveTo>
                <a:lnTo>
                  <a:pt x="1426463" y="495300"/>
                </a:lnTo>
              </a:path>
              <a:path w="3030854" h="842644">
                <a:moveTo>
                  <a:pt x="1604263" y="495300"/>
                </a:moveTo>
                <a:lnTo>
                  <a:pt x="2010663" y="495300"/>
                </a:lnTo>
              </a:path>
              <a:path w="3030854" h="842644">
                <a:moveTo>
                  <a:pt x="2188463" y="495300"/>
                </a:moveTo>
                <a:lnTo>
                  <a:pt x="2594863" y="495300"/>
                </a:lnTo>
              </a:path>
              <a:path w="3030854" h="842644">
                <a:moveTo>
                  <a:pt x="258063" y="495300"/>
                </a:moveTo>
                <a:lnTo>
                  <a:pt x="0" y="495300"/>
                </a:lnTo>
              </a:path>
              <a:path w="3030854" h="842644">
                <a:moveTo>
                  <a:pt x="346963" y="584200"/>
                </a:moveTo>
                <a:lnTo>
                  <a:pt x="346963" y="842263"/>
                </a:lnTo>
              </a:path>
              <a:path w="3030854" h="842644">
                <a:moveTo>
                  <a:pt x="346963" y="406400"/>
                </a:moveTo>
                <a:lnTo>
                  <a:pt x="346963" y="148336"/>
                </a:lnTo>
              </a:path>
              <a:path w="3030854" h="842644">
                <a:moveTo>
                  <a:pt x="2099563" y="584200"/>
                </a:moveTo>
                <a:lnTo>
                  <a:pt x="2099563" y="842263"/>
                </a:lnTo>
              </a:path>
              <a:path w="3030854" h="842644">
                <a:moveTo>
                  <a:pt x="2099563" y="406400"/>
                </a:moveTo>
                <a:lnTo>
                  <a:pt x="2099563" y="148336"/>
                </a:lnTo>
              </a:path>
              <a:path w="3030854" h="842644">
                <a:moveTo>
                  <a:pt x="2772663" y="495300"/>
                </a:moveTo>
                <a:lnTo>
                  <a:pt x="3030728" y="495300"/>
                </a:lnTo>
              </a:path>
              <a:path w="3030854" h="842644">
                <a:moveTo>
                  <a:pt x="2683763" y="584200"/>
                </a:moveTo>
                <a:lnTo>
                  <a:pt x="2683763" y="842263"/>
                </a:lnTo>
              </a:path>
              <a:path w="3030854" h="842644">
                <a:moveTo>
                  <a:pt x="2683763" y="406400"/>
                </a:moveTo>
                <a:lnTo>
                  <a:pt x="2683763" y="148336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34">
            <a:extLst>
              <a:ext uri="{FF2B5EF4-FFF2-40B4-BE49-F238E27FC236}">
                <a16:creationId xmlns:a16="http://schemas.microsoft.com/office/drawing/2014/main" id="{8E56E3C6-841D-F212-1133-67F727E89594}"/>
              </a:ext>
            </a:extLst>
          </p:cNvPr>
          <p:cNvSpPr txBox="1"/>
          <p:nvPr/>
        </p:nvSpPr>
        <p:spPr>
          <a:xfrm>
            <a:off x="6678108" y="283145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6" name="object 33">
            <a:extLst>
              <a:ext uri="{FF2B5EF4-FFF2-40B4-BE49-F238E27FC236}">
                <a16:creationId xmlns:a16="http://schemas.microsoft.com/office/drawing/2014/main" id="{A6F0E67E-3B95-3F76-5312-1ECE9270BC5E}"/>
              </a:ext>
            </a:extLst>
          </p:cNvPr>
          <p:cNvSpPr txBox="1"/>
          <p:nvPr/>
        </p:nvSpPr>
        <p:spPr>
          <a:xfrm>
            <a:off x="6257484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8" name="object 35">
            <a:extLst>
              <a:ext uri="{FF2B5EF4-FFF2-40B4-BE49-F238E27FC236}">
                <a16:creationId xmlns:a16="http://schemas.microsoft.com/office/drawing/2014/main" id="{631DF2B9-2EF8-8D4F-2D5E-C5AA4F982BD2}"/>
              </a:ext>
            </a:extLst>
          </p:cNvPr>
          <p:cNvSpPr txBox="1"/>
          <p:nvPr/>
        </p:nvSpPr>
        <p:spPr>
          <a:xfrm>
            <a:off x="6678108" y="199020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0" name="object 27">
            <a:extLst>
              <a:ext uri="{FF2B5EF4-FFF2-40B4-BE49-F238E27FC236}">
                <a16:creationId xmlns:a16="http://schemas.microsoft.com/office/drawing/2014/main" id="{FBD847B9-63BF-A693-C7DA-30BB60A812F9}"/>
              </a:ext>
            </a:extLst>
          </p:cNvPr>
          <p:cNvSpPr txBox="1"/>
          <p:nvPr/>
        </p:nvSpPr>
        <p:spPr>
          <a:xfrm>
            <a:off x="66781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2" name="object 28">
            <a:extLst>
              <a:ext uri="{FF2B5EF4-FFF2-40B4-BE49-F238E27FC236}">
                <a16:creationId xmlns:a16="http://schemas.microsoft.com/office/drawing/2014/main" id="{587C76A1-489E-4745-4014-E4905E72CDC2}"/>
              </a:ext>
            </a:extLst>
          </p:cNvPr>
          <p:cNvSpPr txBox="1"/>
          <p:nvPr/>
        </p:nvSpPr>
        <p:spPr>
          <a:xfrm>
            <a:off x="72623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3A3449A-3CDF-DFAD-7F2A-B40A625A72C8}"/>
              </a:ext>
            </a:extLst>
          </p:cNvPr>
          <p:cNvSpPr txBox="1"/>
          <p:nvPr/>
        </p:nvSpPr>
        <p:spPr>
          <a:xfrm>
            <a:off x="8430708" y="283145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8" name="object 39">
            <a:extLst>
              <a:ext uri="{FF2B5EF4-FFF2-40B4-BE49-F238E27FC236}">
                <a16:creationId xmlns:a16="http://schemas.microsoft.com/office/drawing/2014/main" id="{3F851F06-50D3-B23C-1915-8C8385B40CDA}"/>
              </a:ext>
            </a:extLst>
          </p:cNvPr>
          <p:cNvSpPr txBox="1"/>
          <p:nvPr/>
        </p:nvSpPr>
        <p:spPr>
          <a:xfrm>
            <a:off x="9014908" y="283145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D6EEEA08-913D-0829-93A3-324E03C04713}"/>
              </a:ext>
            </a:extLst>
          </p:cNvPr>
          <p:cNvSpPr txBox="1"/>
          <p:nvPr/>
        </p:nvSpPr>
        <p:spPr>
          <a:xfrm>
            <a:off x="9435532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2" name="object 37">
            <a:extLst>
              <a:ext uri="{FF2B5EF4-FFF2-40B4-BE49-F238E27FC236}">
                <a16:creationId xmlns:a16="http://schemas.microsoft.com/office/drawing/2014/main" id="{EE67A46F-CB21-415C-D9E2-B8488C3F0643}"/>
              </a:ext>
            </a:extLst>
          </p:cNvPr>
          <p:cNvSpPr txBox="1"/>
          <p:nvPr/>
        </p:nvSpPr>
        <p:spPr>
          <a:xfrm>
            <a:off x="8430708" y="199020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4" name="object 37">
            <a:extLst>
              <a:ext uri="{FF2B5EF4-FFF2-40B4-BE49-F238E27FC236}">
                <a16:creationId xmlns:a16="http://schemas.microsoft.com/office/drawing/2014/main" id="{C340C039-E78A-DBE0-8996-CBD0A6E7885B}"/>
              </a:ext>
            </a:extLst>
          </p:cNvPr>
          <p:cNvSpPr txBox="1"/>
          <p:nvPr/>
        </p:nvSpPr>
        <p:spPr>
          <a:xfrm>
            <a:off x="9014908" y="199833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6" name="object 30">
            <a:extLst>
              <a:ext uri="{FF2B5EF4-FFF2-40B4-BE49-F238E27FC236}">
                <a16:creationId xmlns:a16="http://schemas.microsoft.com/office/drawing/2014/main" id="{BE51222A-D43F-DDCC-4538-FE6215F94787}"/>
              </a:ext>
            </a:extLst>
          </p:cNvPr>
          <p:cNvSpPr txBox="1"/>
          <p:nvPr/>
        </p:nvSpPr>
        <p:spPr>
          <a:xfrm>
            <a:off x="7842241" y="2410826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8" name="object 31">
            <a:extLst>
              <a:ext uri="{FF2B5EF4-FFF2-40B4-BE49-F238E27FC236}">
                <a16:creationId xmlns:a16="http://schemas.microsoft.com/office/drawing/2014/main" id="{4FE7FCF8-4290-8FA7-8E93-7DFAF94AF731}"/>
              </a:ext>
            </a:extLst>
          </p:cNvPr>
          <p:cNvSpPr txBox="1"/>
          <p:nvPr/>
        </p:nvSpPr>
        <p:spPr>
          <a:xfrm>
            <a:off x="84307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0" name="object 32">
            <a:extLst>
              <a:ext uri="{FF2B5EF4-FFF2-40B4-BE49-F238E27FC236}">
                <a16:creationId xmlns:a16="http://schemas.microsoft.com/office/drawing/2014/main" id="{996B3E3C-7A80-744B-5FBC-19067D504876}"/>
              </a:ext>
            </a:extLst>
          </p:cNvPr>
          <p:cNvSpPr txBox="1"/>
          <p:nvPr/>
        </p:nvSpPr>
        <p:spPr>
          <a:xfrm>
            <a:off x="9014908" y="241082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2" name="object 29">
            <a:extLst>
              <a:ext uri="{FF2B5EF4-FFF2-40B4-BE49-F238E27FC236}">
                <a16:creationId xmlns:a16="http://schemas.microsoft.com/office/drawing/2014/main" id="{2AB3A3E6-ED1A-E158-2E16-F76F06DF9556}"/>
              </a:ext>
            </a:extLst>
          </p:cNvPr>
          <p:cNvSpPr txBox="1"/>
          <p:nvPr/>
        </p:nvSpPr>
        <p:spPr>
          <a:xfrm>
            <a:off x="7258041" y="1826626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4" name="object 41">
            <a:extLst>
              <a:ext uri="{FF2B5EF4-FFF2-40B4-BE49-F238E27FC236}">
                <a16:creationId xmlns:a16="http://schemas.microsoft.com/office/drawing/2014/main" id="{05600BC2-6E19-77E4-3360-ADCC3236F81C}"/>
              </a:ext>
            </a:extLst>
          </p:cNvPr>
          <p:cNvSpPr/>
          <p:nvPr/>
        </p:nvSpPr>
        <p:spPr>
          <a:xfrm>
            <a:off x="7182815" y="1834902"/>
            <a:ext cx="765175" cy="821690"/>
          </a:xfrm>
          <a:custGeom>
            <a:avLst/>
            <a:gdLst/>
            <a:ahLst/>
            <a:cxnLst/>
            <a:rect l="l" t="t" r="r" b="b"/>
            <a:pathLst>
              <a:path w="765175" h="821689">
                <a:moveTo>
                  <a:pt x="31750" y="59905"/>
                </a:moveTo>
                <a:lnTo>
                  <a:pt x="24650" y="52793"/>
                </a:lnTo>
                <a:lnTo>
                  <a:pt x="7112" y="52793"/>
                </a:lnTo>
                <a:lnTo>
                  <a:pt x="0" y="59905"/>
                </a:lnTo>
                <a:lnTo>
                  <a:pt x="0" y="77444"/>
                </a:lnTo>
                <a:lnTo>
                  <a:pt x="7112" y="84543"/>
                </a:lnTo>
                <a:lnTo>
                  <a:pt x="24650" y="84543"/>
                </a:lnTo>
                <a:lnTo>
                  <a:pt x="31750" y="77444"/>
                </a:lnTo>
                <a:lnTo>
                  <a:pt x="31750" y="68668"/>
                </a:lnTo>
                <a:lnTo>
                  <a:pt x="31750" y="59905"/>
                </a:lnTo>
                <a:close/>
              </a:path>
              <a:path w="765175" h="821689">
                <a:moveTo>
                  <a:pt x="62230" y="7112"/>
                </a:moveTo>
                <a:lnTo>
                  <a:pt x="55130" y="0"/>
                </a:lnTo>
                <a:lnTo>
                  <a:pt x="37592" y="0"/>
                </a:lnTo>
                <a:lnTo>
                  <a:pt x="30480" y="7112"/>
                </a:lnTo>
                <a:lnTo>
                  <a:pt x="30480" y="24650"/>
                </a:lnTo>
                <a:lnTo>
                  <a:pt x="37592" y="31750"/>
                </a:lnTo>
                <a:lnTo>
                  <a:pt x="55130" y="31750"/>
                </a:lnTo>
                <a:lnTo>
                  <a:pt x="62230" y="24650"/>
                </a:lnTo>
                <a:lnTo>
                  <a:pt x="62230" y="15875"/>
                </a:lnTo>
                <a:lnTo>
                  <a:pt x="62230" y="7112"/>
                </a:lnTo>
                <a:close/>
              </a:path>
              <a:path w="765175" h="821689">
                <a:moveTo>
                  <a:pt x="238531" y="7112"/>
                </a:moveTo>
                <a:lnTo>
                  <a:pt x="231419" y="0"/>
                </a:lnTo>
                <a:lnTo>
                  <a:pt x="213880" y="0"/>
                </a:lnTo>
                <a:lnTo>
                  <a:pt x="206781" y="7112"/>
                </a:lnTo>
                <a:lnTo>
                  <a:pt x="206781" y="24650"/>
                </a:lnTo>
                <a:lnTo>
                  <a:pt x="213880" y="31750"/>
                </a:lnTo>
                <a:lnTo>
                  <a:pt x="231419" y="31750"/>
                </a:lnTo>
                <a:lnTo>
                  <a:pt x="238531" y="24650"/>
                </a:lnTo>
                <a:lnTo>
                  <a:pt x="238531" y="15875"/>
                </a:lnTo>
                <a:lnTo>
                  <a:pt x="238531" y="7112"/>
                </a:lnTo>
                <a:close/>
              </a:path>
              <a:path w="765175" h="821689">
                <a:moveTo>
                  <a:pt x="269011" y="59905"/>
                </a:moveTo>
                <a:lnTo>
                  <a:pt x="261899" y="52793"/>
                </a:lnTo>
                <a:lnTo>
                  <a:pt x="244360" y="52793"/>
                </a:lnTo>
                <a:lnTo>
                  <a:pt x="237261" y="59905"/>
                </a:lnTo>
                <a:lnTo>
                  <a:pt x="237261" y="77444"/>
                </a:lnTo>
                <a:lnTo>
                  <a:pt x="244360" y="84543"/>
                </a:lnTo>
                <a:lnTo>
                  <a:pt x="261899" y="84543"/>
                </a:lnTo>
                <a:lnTo>
                  <a:pt x="269011" y="77444"/>
                </a:lnTo>
                <a:lnTo>
                  <a:pt x="269011" y="68668"/>
                </a:lnTo>
                <a:lnTo>
                  <a:pt x="269011" y="59905"/>
                </a:lnTo>
                <a:close/>
              </a:path>
              <a:path w="765175" h="821689">
                <a:moveTo>
                  <a:pt x="704100" y="796772"/>
                </a:moveTo>
                <a:lnTo>
                  <a:pt x="696988" y="789673"/>
                </a:lnTo>
                <a:lnTo>
                  <a:pt x="679462" y="789673"/>
                </a:lnTo>
                <a:lnTo>
                  <a:pt x="672350" y="796772"/>
                </a:lnTo>
                <a:lnTo>
                  <a:pt x="672350" y="814311"/>
                </a:lnTo>
                <a:lnTo>
                  <a:pt x="679462" y="821423"/>
                </a:lnTo>
                <a:lnTo>
                  <a:pt x="696988" y="821423"/>
                </a:lnTo>
                <a:lnTo>
                  <a:pt x="704100" y="814311"/>
                </a:lnTo>
                <a:lnTo>
                  <a:pt x="704100" y="805548"/>
                </a:lnTo>
                <a:lnTo>
                  <a:pt x="704100" y="796772"/>
                </a:lnTo>
                <a:close/>
              </a:path>
              <a:path w="765175" h="821689">
                <a:moveTo>
                  <a:pt x="704100" y="558012"/>
                </a:moveTo>
                <a:lnTo>
                  <a:pt x="696988" y="550913"/>
                </a:lnTo>
                <a:lnTo>
                  <a:pt x="679462" y="550913"/>
                </a:lnTo>
                <a:lnTo>
                  <a:pt x="672350" y="558012"/>
                </a:lnTo>
                <a:lnTo>
                  <a:pt x="672350" y="575551"/>
                </a:lnTo>
                <a:lnTo>
                  <a:pt x="679462" y="582663"/>
                </a:lnTo>
                <a:lnTo>
                  <a:pt x="696988" y="582663"/>
                </a:lnTo>
                <a:lnTo>
                  <a:pt x="704100" y="575551"/>
                </a:lnTo>
                <a:lnTo>
                  <a:pt x="704100" y="566788"/>
                </a:lnTo>
                <a:lnTo>
                  <a:pt x="704100" y="558012"/>
                </a:lnTo>
                <a:close/>
              </a:path>
              <a:path w="765175" h="821689">
                <a:moveTo>
                  <a:pt x="765060" y="796772"/>
                </a:moveTo>
                <a:lnTo>
                  <a:pt x="757948" y="789673"/>
                </a:lnTo>
                <a:lnTo>
                  <a:pt x="740422" y="789673"/>
                </a:lnTo>
                <a:lnTo>
                  <a:pt x="733310" y="796772"/>
                </a:lnTo>
                <a:lnTo>
                  <a:pt x="733310" y="814311"/>
                </a:lnTo>
                <a:lnTo>
                  <a:pt x="740422" y="821423"/>
                </a:lnTo>
                <a:lnTo>
                  <a:pt x="757948" y="821423"/>
                </a:lnTo>
                <a:lnTo>
                  <a:pt x="765060" y="814311"/>
                </a:lnTo>
                <a:lnTo>
                  <a:pt x="765060" y="805548"/>
                </a:lnTo>
                <a:lnTo>
                  <a:pt x="765060" y="796772"/>
                </a:lnTo>
                <a:close/>
              </a:path>
              <a:path w="765175" h="821689">
                <a:moveTo>
                  <a:pt x="765060" y="558012"/>
                </a:moveTo>
                <a:lnTo>
                  <a:pt x="757948" y="550913"/>
                </a:lnTo>
                <a:lnTo>
                  <a:pt x="740422" y="550913"/>
                </a:lnTo>
                <a:lnTo>
                  <a:pt x="733310" y="558012"/>
                </a:lnTo>
                <a:lnTo>
                  <a:pt x="733310" y="575551"/>
                </a:lnTo>
                <a:lnTo>
                  <a:pt x="740422" y="582663"/>
                </a:lnTo>
                <a:lnTo>
                  <a:pt x="757948" y="582663"/>
                </a:lnTo>
                <a:lnTo>
                  <a:pt x="765060" y="575551"/>
                </a:lnTo>
                <a:lnTo>
                  <a:pt x="765060" y="566788"/>
                </a:lnTo>
                <a:lnTo>
                  <a:pt x="765060" y="558012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45">
            <a:extLst>
              <a:ext uri="{FF2B5EF4-FFF2-40B4-BE49-F238E27FC236}">
                <a16:creationId xmlns:a16="http://schemas.microsoft.com/office/drawing/2014/main" id="{87484791-709B-974E-977B-2262DCF64CFB}"/>
              </a:ext>
            </a:extLst>
          </p:cNvPr>
          <p:cNvSpPr/>
          <p:nvPr/>
        </p:nvSpPr>
        <p:spPr>
          <a:xfrm>
            <a:off x="5054294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45">
            <a:extLst>
              <a:ext uri="{FF2B5EF4-FFF2-40B4-BE49-F238E27FC236}">
                <a16:creationId xmlns:a16="http://schemas.microsoft.com/office/drawing/2014/main" id="{CA718BD2-F023-07CF-B400-877A07AE1A38}"/>
              </a:ext>
            </a:extLst>
          </p:cNvPr>
          <p:cNvSpPr/>
          <p:nvPr/>
        </p:nvSpPr>
        <p:spPr>
          <a:xfrm>
            <a:off x="2564188" y="6499415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45">
            <a:extLst>
              <a:ext uri="{FF2B5EF4-FFF2-40B4-BE49-F238E27FC236}">
                <a16:creationId xmlns:a16="http://schemas.microsoft.com/office/drawing/2014/main" id="{7F266D12-4493-CD48-1547-AF021119605F}"/>
              </a:ext>
            </a:extLst>
          </p:cNvPr>
          <p:cNvSpPr/>
          <p:nvPr/>
        </p:nvSpPr>
        <p:spPr>
          <a:xfrm>
            <a:off x="3879238" y="6497447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5">
            <a:extLst>
              <a:ext uri="{FF2B5EF4-FFF2-40B4-BE49-F238E27FC236}">
                <a16:creationId xmlns:a16="http://schemas.microsoft.com/office/drawing/2014/main" id="{B1CCC252-6452-D9DC-CED4-7BFEAC5FC264}"/>
              </a:ext>
            </a:extLst>
          </p:cNvPr>
          <p:cNvSpPr/>
          <p:nvPr/>
        </p:nvSpPr>
        <p:spPr>
          <a:xfrm>
            <a:off x="6386160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9866376" cy="658368"/>
          </a:xfrm>
          <a:prstGeom prst="rect">
            <a:avLst/>
          </a:prstGeom>
          <a:solidFill>
            <a:srgbClr val="1E354D"/>
          </a:solidFill>
          <a:ln>
            <a:solidFill>
              <a:srgbClr val="1E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93192"/>
            <a:ext cx="95554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900" b="1" dirty="0">
                <a:solidFill>
                  <a:srgbClr val="FFFFFF"/>
                </a:solidFill>
                <a:latin typeface="Aptos"/>
              </a:rPr>
              <a:t>CARD 06 — CYCLOHEXANE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94944"/>
            <a:ext cx="941832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Molecular Formula: C₆H₁₂     |     IUPAC name: Cyclohexane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70432"/>
            <a:ext cx="4864608" cy="2240280"/>
          </a:xfrm>
          <a:prstGeom prst="rect">
            <a:avLst/>
          </a:prstGeom>
          <a:solidFill>
            <a:srgbClr val="E2EBF4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1. MOLECULAR FORMULA / IDENTITY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5098" y="1950479"/>
            <a:ext cx="1731443" cy="68018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4000" b="1" dirty="0">
                <a:solidFill>
                  <a:srgbClr val="1E354D"/>
                </a:solidFill>
                <a:latin typeface="Aptos"/>
              </a:rPr>
              <a:t>C₆H₁₂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2550" y="1170432"/>
            <a:ext cx="4864608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486400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2. LEWIS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566160"/>
            <a:ext cx="4864608" cy="2395728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3. CONDENSED STRUCTURAL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3879" y="4436564"/>
            <a:ext cx="3678577" cy="1141851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4000" b="1" dirty="0">
                <a:solidFill>
                  <a:srgbClr val="1E354D"/>
                </a:solidFill>
                <a:latin typeface="Aptos"/>
              </a:rPr>
              <a:t>(CH₂)₆ (</a:t>
            </a:r>
            <a:r>
              <a:rPr lang="en-US" sz="4000" b="1" dirty="0">
                <a:solidFill>
                  <a:srgbClr val="1E354D"/>
                </a:solidFill>
                <a:latin typeface="Aptos"/>
              </a:rPr>
              <a:t>ring</a:t>
            </a:r>
            <a:r>
              <a:rPr sz="4000" b="1" dirty="0">
                <a:solidFill>
                  <a:srgbClr val="1E354D"/>
                </a:solidFill>
                <a:latin typeface="Aptos"/>
              </a:rPr>
              <a:t>)</a:t>
            </a:r>
            <a:r>
              <a:rPr sz="1500" b="0" dirty="0">
                <a:solidFill>
                  <a:srgbClr val="1E354D"/>
                </a:solidFill>
                <a:latin typeface="Aptos"/>
              </a:rPr>
              <a:t>
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3248" y="3551658"/>
            <a:ext cx="4864608" cy="2395728"/>
          </a:xfrm>
          <a:prstGeom prst="rect">
            <a:avLst/>
          </a:prstGeom>
          <a:solidFill>
            <a:srgbClr val="FFEED6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486400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4. BOND-LINE FORMULA (KETCHER)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108192"/>
            <a:ext cx="9866376" cy="685800"/>
          </a:xfrm>
          <a:prstGeom prst="rect">
            <a:avLst/>
          </a:prstGeom>
          <a:solidFill>
            <a:srgbClr val="DEF1E2"/>
          </a:solidFill>
          <a:ln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190488"/>
            <a:ext cx="95554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1">
                <a:solidFill>
                  <a:srgbClr val="1E354D"/>
                </a:solidFill>
                <a:latin typeface="Aptos"/>
              </a:rPr>
              <a:t>VERIFICATION STRIP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955548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0" dirty="0">
                <a:solidFill>
                  <a:srgbClr val="1E354D"/>
                </a:solidFill>
                <a:latin typeface="Aptos"/>
              </a:rPr>
              <a:t>☐ atom count verified     ☐ valence checked     ☐ bond order checked     ☐ same connectivity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7022592"/>
            <a:ext cx="9866376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800" b="0">
                <a:solidFill>
                  <a:srgbClr val="64707C"/>
                </a:solidFill>
                <a:latin typeface="Aptos"/>
              </a:rPr>
              <a:t>CHEM 13 | Organic Chemistry (Lecture) | Bicol University — College of Engineering | Department of Chemical Engineering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ACDE28C-539B-81FC-3C4A-5C677ABC7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826" y="4353722"/>
            <a:ext cx="899266" cy="1016054"/>
          </a:xfrm>
          <a:prstGeom prst="rect">
            <a:avLst/>
          </a:prstGeom>
        </p:spPr>
      </p:pic>
      <p:sp>
        <p:nvSpPr>
          <p:cNvPr id="21" name="object 25">
            <a:extLst>
              <a:ext uri="{FF2B5EF4-FFF2-40B4-BE49-F238E27FC236}">
                <a16:creationId xmlns:a16="http://schemas.microsoft.com/office/drawing/2014/main" id="{D4A38DA4-1271-D54A-C84A-F6B1462048D7}"/>
              </a:ext>
            </a:extLst>
          </p:cNvPr>
          <p:cNvSpPr/>
          <p:nvPr/>
        </p:nvSpPr>
        <p:spPr>
          <a:xfrm>
            <a:off x="7146515" y="1420701"/>
            <a:ext cx="1580515" cy="1610995"/>
          </a:xfrm>
          <a:custGeom>
            <a:avLst/>
            <a:gdLst/>
            <a:ahLst/>
            <a:cxnLst/>
            <a:rect l="l" t="t" r="r" b="b"/>
            <a:pathLst>
              <a:path w="1580515" h="1610995">
                <a:moveTo>
                  <a:pt x="713102" y="265487"/>
                </a:moveTo>
                <a:lnTo>
                  <a:pt x="361149" y="468687"/>
                </a:lnTo>
              </a:path>
              <a:path w="1580515" h="1610995">
                <a:moveTo>
                  <a:pt x="284161" y="602037"/>
                </a:moveTo>
                <a:lnTo>
                  <a:pt x="284161" y="1008437"/>
                </a:lnTo>
              </a:path>
              <a:path w="1580515" h="1610995">
                <a:moveTo>
                  <a:pt x="361149" y="1141787"/>
                </a:moveTo>
                <a:lnTo>
                  <a:pt x="713102" y="1344987"/>
                </a:lnTo>
              </a:path>
              <a:path w="1580515" h="1610995">
                <a:moveTo>
                  <a:pt x="867082" y="1344987"/>
                </a:moveTo>
                <a:lnTo>
                  <a:pt x="1219034" y="1141787"/>
                </a:lnTo>
              </a:path>
              <a:path w="1580515" h="1610995">
                <a:moveTo>
                  <a:pt x="1296024" y="1008437"/>
                </a:moveTo>
                <a:lnTo>
                  <a:pt x="1296024" y="602037"/>
                </a:lnTo>
              </a:path>
              <a:path w="1580515" h="1610995">
                <a:moveTo>
                  <a:pt x="1219034" y="468687"/>
                </a:moveTo>
                <a:lnTo>
                  <a:pt x="867082" y="265487"/>
                </a:lnTo>
              </a:path>
              <a:path w="1580515" h="1610995">
                <a:moveTo>
                  <a:pt x="847236" y="152935"/>
                </a:moveTo>
                <a:lnTo>
                  <a:pt x="975565" y="0"/>
                </a:lnTo>
              </a:path>
              <a:path w="1580515" h="1610995">
                <a:moveTo>
                  <a:pt x="732948" y="152935"/>
                </a:moveTo>
                <a:lnTo>
                  <a:pt x="604620" y="0"/>
                </a:lnTo>
              </a:path>
              <a:path w="1580515" h="1610995">
                <a:moveTo>
                  <a:pt x="196611" y="528574"/>
                </a:moveTo>
                <a:lnTo>
                  <a:pt x="0" y="563242"/>
                </a:lnTo>
              </a:path>
              <a:path w="1580515" h="1610995">
                <a:moveTo>
                  <a:pt x="253754" y="429599"/>
                </a:moveTo>
                <a:lnTo>
                  <a:pt x="185473" y="241994"/>
                </a:lnTo>
              </a:path>
              <a:path w="1580515" h="1610995">
                <a:moveTo>
                  <a:pt x="253754" y="1180876"/>
                </a:moveTo>
                <a:lnTo>
                  <a:pt x="185473" y="1368479"/>
                </a:lnTo>
              </a:path>
              <a:path w="1580515" h="1610995">
                <a:moveTo>
                  <a:pt x="196611" y="1081900"/>
                </a:moveTo>
                <a:lnTo>
                  <a:pt x="0" y="1047231"/>
                </a:lnTo>
              </a:path>
              <a:path w="1580515" h="1610995">
                <a:moveTo>
                  <a:pt x="732948" y="1457538"/>
                </a:moveTo>
                <a:lnTo>
                  <a:pt x="604620" y="1610474"/>
                </a:lnTo>
              </a:path>
              <a:path w="1580515" h="1610995">
                <a:moveTo>
                  <a:pt x="847236" y="1457538"/>
                </a:moveTo>
                <a:lnTo>
                  <a:pt x="975565" y="1610474"/>
                </a:lnTo>
              </a:path>
              <a:path w="1580515" h="1610995">
                <a:moveTo>
                  <a:pt x="1326429" y="1180876"/>
                </a:moveTo>
                <a:lnTo>
                  <a:pt x="1394712" y="1368479"/>
                </a:lnTo>
              </a:path>
              <a:path w="1580515" h="1610995">
                <a:moveTo>
                  <a:pt x="1383573" y="1081900"/>
                </a:moveTo>
                <a:lnTo>
                  <a:pt x="1580184" y="1047231"/>
                </a:lnTo>
              </a:path>
              <a:path w="1580515" h="1610995">
                <a:moveTo>
                  <a:pt x="1383573" y="528574"/>
                </a:moveTo>
                <a:lnTo>
                  <a:pt x="1580184" y="563242"/>
                </a:lnTo>
              </a:path>
              <a:path w="1580515" h="1610995">
                <a:moveTo>
                  <a:pt x="1326429" y="429599"/>
                </a:moveTo>
                <a:lnTo>
                  <a:pt x="1394712" y="241994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40">
            <a:extLst>
              <a:ext uri="{FF2B5EF4-FFF2-40B4-BE49-F238E27FC236}">
                <a16:creationId xmlns:a16="http://schemas.microsoft.com/office/drawing/2014/main" id="{942810C4-F387-83D4-31AF-AE0B3DA61AE5}"/>
              </a:ext>
            </a:extLst>
          </p:cNvPr>
          <p:cNvSpPr txBox="1"/>
          <p:nvPr/>
        </p:nvSpPr>
        <p:spPr>
          <a:xfrm>
            <a:off x="8764310" y="189155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7" name="object 30">
            <a:extLst>
              <a:ext uri="{FF2B5EF4-FFF2-40B4-BE49-F238E27FC236}">
                <a16:creationId xmlns:a16="http://schemas.microsoft.com/office/drawing/2014/main" id="{1BA36C61-988D-B9F9-9DAC-54CF3D789F86}"/>
              </a:ext>
            </a:extLst>
          </p:cNvPr>
          <p:cNvSpPr txBox="1"/>
          <p:nvPr/>
        </p:nvSpPr>
        <p:spPr>
          <a:xfrm>
            <a:off x="8382663" y="244062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CEB582E-779B-2EAF-AF59-44669073809D}"/>
              </a:ext>
            </a:extLst>
          </p:cNvPr>
          <p:cNvSpPr txBox="1"/>
          <p:nvPr/>
        </p:nvSpPr>
        <p:spPr>
          <a:xfrm>
            <a:off x="7875177" y="270543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id="{D1D40B51-128D-1BDA-BB73-16BCA40A0FD0}"/>
              </a:ext>
            </a:extLst>
          </p:cNvPr>
          <p:cNvSpPr txBox="1"/>
          <p:nvPr/>
        </p:nvSpPr>
        <p:spPr>
          <a:xfrm>
            <a:off x="7367822" y="240237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3" name="object 27">
            <a:extLst>
              <a:ext uri="{FF2B5EF4-FFF2-40B4-BE49-F238E27FC236}">
                <a16:creationId xmlns:a16="http://schemas.microsoft.com/office/drawing/2014/main" id="{C0042A8F-8391-E393-1481-BC9236FBC786}"/>
              </a:ext>
            </a:extLst>
          </p:cNvPr>
          <p:cNvSpPr txBox="1"/>
          <p:nvPr/>
        </p:nvSpPr>
        <p:spPr>
          <a:xfrm>
            <a:off x="7345882" y="183438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5" name="object 26">
            <a:extLst>
              <a:ext uri="{FF2B5EF4-FFF2-40B4-BE49-F238E27FC236}">
                <a16:creationId xmlns:a16="http://schemas.microsoft.com/office/drawing/2014/main" id="{FF01DA83-A3BA-B9A5-7565-8533FADA6AD4}"/>
              </a:ext>
            </a:extLst>
          </p:cNvPr>
          <p:cNvSpPr txBox="1"/>
          <p:nvPr/>
        </p:nvSpPr>
        <p:spPr>
          <a:xfrm>
            <a:off x="7875177" y="156225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7" name="object 31">
            <a:extLst>
              <a:ext uri="{FF2B5EF4-FFF2-40B4-BE49-F238E27FC236}">
                <a16:creationId xmlns:a16="http://schemas.microsoft.com/office/drawing/2014/main" id="{4B00C25F-79FF-BA27-291E-D9A6C7CA8372}"/>
              </a:ext>
            </a:extLst>
          </p:cNvPr>
          <p:cNvSpPr txBox="1"/>
          <p:nvPr/>
        </p:nvSpPr>
        <p:spPr>
          <a:xfrm>
            <a:off x="8406092" y="181000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9" name="object 40">
            <a:extLst>
              <a:ext uri="{FF2B5EF4-FFF2-40B4-BE49-F238E27FC236}">
                <a16:creationId xmlns:a16="http://schemas.microsoft.com/office/drawing/2014/main" id="{A3EAFE31-641D-60A9-5CE3-DA60EA0E0F5D}"/>
              </a:ext>
            </a:extLst>
          </p:cNvPr>
          <p:cNvSpPr txBox="1"/>
          <p:nvPr/>
        </p:nvSpPr>
        <p:spPr>
          <a:xfrm>
            <a:off x="8740268" y="239578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34EC62EA-ECD1-16A9-C2AC-B42BF906C3F9}"/>
              </a:ext>
            </a:extLst>
          </p:cNvPr>
          <p:cNvSpPr txBox="1"/>
          <p:nvPr/>
        </p:nvSpPr>
        <p:spPr>
          <a:xfrm>
            <a:off x="8529179" y="278653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3" name="object 40">
            <a:extLst>
              <a:ext uri="{FF2B5EF4-FFF2-40B4-BE49-F238E27FC236}">
                <a16:creationId xmlns:a16="http://schemas.microsoft.com/office/drawing/2014/main" id="{F3566F16-D4C0-9C81-2C73-1FE2656EF0D7}"/>
              </a:ext>
            </a:extLst>
          </p:cNvPr>
          <p:cNvSpPr txBox="1"/>
          <p:nvPr/>
        </p:nvSpPr>
        <p:spPr>
          <a:xfrm>
            <a:off x="8505852" y="147260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5" name="object 40">
            <a:extLst>
              <a:ext uri="{FF2B5EF4-FFF2-40B4-BE49-F238E27FC236}">
                <a16:creationId xmlns:a16="http://schemas.microsoft.com/office/drawing/2014/main" id="{2433A052-3EE1-A497-21BF-49BA6C6437D0}"/>
              </a:ext>
            </a:extLst>
          </p:cNvPr>
          <p:cNvSpPr txBox="1"/>
          <p:nvPr/>
        </p:nvSpPr>
        <p:spPr>
          <a:xfrm>
            <a:off x="8163674" y="124880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7" name="object 40">
            <a:extLst>
              <a:ext uri="{FF2B5EF4-FFF2-40B4-BE49-F238E27FC236}">
                <a16:creationId xmlns:a16="http://schemas.microsoft.com/office/drawing/2014/main" id="{E3E0F1D5-20A3-09F4-5309-2A041FD1DE0B}"/>
              </a:ext>
            </a:extLst>
          </p:cNvPr>
          <p:cNvSpPr txBox="1"/>
          <p:nvPr/>
        </p:nvSpPr>
        <p:spPr>
          <a:xfrm>
            <a:off x="7614200" y="125831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9" name="object 40">
            <a:extLst>
              <a:ext uri="{FF2B5EF4-FFF2-40B4-BE49-F238E27FC236}">
                <a16:creationId xmlns:a16="http://schemas.microsoft.com/office/drawing/2014/main" id="{D596CF4E-E721-D213-09F9-2E732C5D1FFC}"/>
              </a:ext>
            </a:extLst>
          </p:cNvPr>
          <p:cNvSpPr txBox="1"/>
          <p:nvPr/>
        </p:nvSpPr>
        <p:spPr>
          <a:xfrm>
            <a:off x="7244502" y="148618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1" name="object 40">
            <a:extLst>
              <a:ext uri="{FF2B5EF4-FFF2-40B4-BE49-F238E27FC236}">
                <a16:creationId xmlns:a16="http://schemas.microsoft.com/office/drawing/2014/main" id="{FCFE796F-512D-127F-53C4-EA799AA36230}"/>
              </a:ext>
            </a:extLst>
          </p:cNvPr>
          <p:cNvSpPr txBox="1"/>
          <p:nvPr/>
        </p:nvSpPr>
        <p:spPr>
          <a:xfrm>
            <a:off x="6998111" y="188605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3" name="object 40">
            <a:extLst>
              <a:ext uri="{FF2B5EF4-FFF2-40B4-BE49-F238E27FC236}">
                <a16:creationId xmlns:a16="http://schemas.microsoft.com/office/drawing/2014/main" id="{A68CC3F2-13ED-ADFB-090A-A9373F6EEEDA}"/>
              </a:ext>
            </a:extLst>
          </p:cNvPr>
          <p:cNvSpPr txBox="1"/>
          <p:nvPr/>
        </p:nvSpPr>
        <p:spPr>
          <a:xfrm>
            <a:off x="7026763" y="2371581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5" name="object 40">
            <a:extLst>
              <a:ext uri="{FF2B5EF4-FFF2-40B4-BE49-F238E27FC236}">
                <a16:creationId xmlns:a16="http://schemas.microsoft.com/office/drawing/2014/main" id="{6693888A-3F53-B86D-891B-D4A76C33C6BA}"/>
              </a:ext>
            </a:extLst>
          </p:cNvPr>
          <p:cNvSpPr txBox="1"/>
          <p:nvPr/>
        </p:nvSpPr>
        <p:spPr>
          <a:xfrm>
            <a:off x="7212105" y="277209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7" name="object 40">
            <a:extLst>
              <a:ext uri="{FF2B5EF4-FFF2-40B4-BE49-F238E27FC236}">
                <a16:creationId xmlns:a16="http://schemas.microsoft.com/office/drawing/2014/main" id="{881C61DE-CEA1-229D-F360-C5BA468E6CF9}"/>
              </a:ext>
            </a:extLst>
          </p:cNvPr>
          <p:cNvSpPr txBox="1"/>
          <p:nvPr/>
        </p:nvSpPr>
        <p:spPr>
          <a:xfrm>
            <a:off x="7637527" y="300985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9" name="object 40">
            <a:extLst>
              <a:ext uri="{FF2B5EF4-FFF2-40B4-BE49-F238E27FC236}">
                <a16:creationId xmlns:a16="http://schemas.microsoft.com/office/drawing/2014/main" id="{EC870231-BC0B-1FF1-0820-B24CF5D6AA74}"/>
              </a:ext>
            </a:extLst>
          </p:cNvPr>
          <p:cNvSpPr txBox="1"/>
          <p:nvPr/>
        </p:nvSpPr>
        <p:spPr>
          <a:xfrm>
            <a:off x="8120683" y="301882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1" name="object 45">
            <a:extLst>
              <a:ext uri="{FF2B5EF4-FFF2-40B4-BE49-F238E27FC236}">
                <a16:creationId xmlns:a16="http://schemas.microsoft.com/office/drawing/2014/main" id="{2D5A6302-C121-DB99-963C-7FA209F24C4D}"/>
              </a:ext>
            </a:extLst>
          </p:cNvPr>
          <p:cNvSpPr/>
          <p:nvPr/>
        </p:nvSpPr>
        <p:spPr>
          <a:xfrm>
            <a:off x="5054294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45">
            <a:extLst>
              <a:ext uri="{FF2B5EF4-FFF2-40B4-BE49-F238E27FC236}">
                <a16:creationId xmlns:a16="http://schemas.microsoft.com/office/drawing/2014/main" id="{60980C47-49C3-393D-220A-CCED05664E14}"/>
              </a:ext>
            </a:extLst>
          </p:cNvPr>
          <p:cNvSpPr/>
          <p:nvPr/>
        </p:nvSpPr>
        <p:spPr>
          <a:xfrm>
            <a:off x="2550987" y="6498526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5">
            <a:extLst>
              <a:ext uri="{FF2B5EF4-FFF2-40B4-BE49-F238E27FC236}">
                <a16:creationId xmlns:a16="http://schemas.microsoft.com/office/drawing/2014/main" id="{011B995C-F128-FD42-3027-317D91CEF29F}"/>
              </a:ext>
            </a:extLst>
          </p:cNvPr>
          <p:cNvSpPr/>
          <p:nvPr/>
        </p:nvSpPr>
        <p:spPr>
          <a:xfrm>
            <a:off x="3884313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5">
            <a:extLst>
              <a:ext uri="{FF2B5EF4-FFF2-40B4-BE49-F238E27FC236}">
                <a16:creationId xmlns:a16="http://schemas.microsoft.com/office/drawing/2014/main" id="{668A6B63-FD25-DE69-20AA-04F5F992C45E}"/>
              </a:ext>
            </a:extLst>
          </p:cNvPr>
          <p:cNvSpPr/>
          <p:nvPr/>
        </p:nvSpPr>
        <p:spPr>
          <a:xfrm>
            <a:off x="6387794" y="6497447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9866376" cy="658368"/>
          </a:xfrm>
          <a:prstGeom prst="rect">
            <a:avLst/>
          </a:prstGeom>
          <a:solidFill>
            <a:srgbClr val="1E354D"/>
          </a:solidFill>
          <a:ln>
            <a:solidFill>
              <a:srgbClr val="1E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93192"/>
            <a:ext cx="95554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900" b="1" dirty="0">
                <a:solidFill>
                  <a:srgbClr val="FFFFFF"/>
                </a:solidFill>
                <a:latin typeface="Aptos"/>
              </a:rPr>
              <a:t>CARD 07 — CYCLOHEXANONE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94944"/>
            <a:ext cx="941832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Molecular Formula: C₆H₁₀O     |     IUPAC name: Cyclohexanone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70432"/>
            <a:ext cx="4864608" cy="2240280"/>
          </a:xfrm>
          <a:prstGeom prst="rect">
            <a:avLst/>
          </a:prstGeom>
          <a:solidFill>
            <a:srgbClr val="E2EBF4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1. MOLECULAR FORMULA / IDENTITY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7672" y="1950479"/>
            <a:ext cx="2075688" cy="68018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4000" b="1" dirty="0">
                <a:solidFill>
                  <a:srgbClr val="1E354D"/>
                </a:solidFill>
                <a:latin typeface="Aptos"/>
              </a:rPr>
              <a:t>C₆H₁₀O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3248" y="1170432"/>
            <a:ext cx="4864608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486400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2. LEWIS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566160"/>
            <a:ext cx="4864608" cy="2395728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3. CONDENSED STRUCTURAL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123" y="4423931"/>
            <a:ext cx="4718304" cy="68018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lang="en-PH" sz="4000" b="1" dirty="0">
                <a:solidFill>
                  <a:srgbClr val="1E354D"/>
                </a:solidFill>
                <a:latin typeface="Aptos"/>
              </a:rPr>
              <a:t>(CH₂)₅C=O (ring)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3248" y="3566160"/>
            <a:ext cx="4864608" cy="2395728"/>
          </a:xfrm>
          <a:prstGeom prst="rect">
            <a:avLst/>
          </a:prstGeom>
          <a:solidFill>
            <a:srgbClr val="FFEED6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4. BOND-LINE FORMULA (KETCHER)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108192"/>
            <a:ext cx="9866376" cy="685800"/>
          </a:xfrm>
          <a:prstGeom prst="rect">
            <a:avLst/>
          </a:prstGeom>
          <a:solidFill>
            <a:srgbClr val="DEF1E2"/>
          </a:solidFill>
          <a:ln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190488"/>
            <a:ext cx="95554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1">
                <a:solidFill>
                  <a:srgbClr val="1E354D"/>
                </a:solidFill>
                <a:latin typeface="Aptos"/>
              </a:rPr>
              <a:t>VERIFICATION STRIP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955548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0">
                <a:solidFill>
                  <a:srgbClr val="1E354D"/>
                </a:solidFill>
                <a:latin typeface="Aptos"/>
              </a:rPr>
              <a:t>☐ atom count verified     ☐ valence checked     ☐ bond order checked     ☐ same connectivity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7022592"/>
            <a:ext cx="9866376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800" b="0" dirty="0">
                <a:solidFill>
                  <a:srgbClr val="64707C"/>
                </a:solidFill>
                <a:latin typeface="Aptos"/>
              </a:rPr>
              <a:t>CHEM 13 | Organic Chemistry (Lecture) | Bicol University — College of Engineering | Department of Chemical Engineering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3E137D2-2C78-5F2F-8DB9-9C6334CD5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36813">
            <a:off x="7475180" y="4019300"/>
            <a:ext cx="839642" cy="1371062"/>
          </a:xfrm>
          <a:prstGeom prst="rect">
            <a:avLst/>
          </a:prstGeom>
        </p:spPr>
      </p:pic>
      <p:sp>
        <p:nvSpPr>
          <p:cNvPr id="21" name="object 25">
            <a:extLst>
              <a:ext uri="{FF2B5EF4-FFF2-40B4-BE49-F238E27FC236}">
                <a16:creationId xmlns:a16="http://schemas.microsoft.com/office/drawing/2014/main" id="{E0F7BB77-C9BD-26B3-E606-183B2CF48CA4}"/>
              </a:ext>
            </a:extLst>
          </p:cNvPr>
          <p:cNvSpPr/>
          <p:nvPr/>
        </p:nvSpPr>
        <p:spPr>
          <a:xfrm>
            <a:off x="7185418" y="1381748"/>
            <a:ext cx="1432560" cy="1710689"/>
          </a:xfrm>
          <a:custGeom>
            <a:avLst/>
            <a:gdLst/>
            <a:ahLst/>
            <a:cxnLst/>
            <a:rect l="l" t="t" r="r" b="b"/>
            <a:pathLst>
              <a:path w="1432559" h="1710689">
                <a:moveTo>
                  <a:pt x="639116" y="489644"/>
                </a:moveTo>
                <a:lnTo>
                  <a:pt x="330556" y="667791"/>
                </a:lnTo>
              </a:path>
              <a:path w="1432559" h="1710689">
                <a:moveTo>
                  <a:pt x="253566" y="801141"/>
                </a:moveTo>
                <a:lnTo>
                  <a:pt x="253566" y="1157436"/>
                </a:lnTo>
              </a:path>
              <a:path w="1432559" h="1710689">
                <a:moveTo>
                  <a:pt x="330556" y="1290786"/>
                </a:moveTo>
                <a:lnTo>
                  <a:pt x="639116" y="1468932"/>
                </a:lnTo>
              </a:path>
              <a:path w="1432559" h="1710689">
                <a:moveTo>
                  <a:pt x="793095" y="1468932"/>
                </a:moveTo>
                <a:lnTo>
                  <a:pt x="1101656" y="1290786"/>
                </a:lnTo>
              </a:path>
              <a:path w="1432559" h="1710689">
                <a:moveTo>
                  <a:pt x="1178645" y="1157436"/>
                </a:moveTo>
                <a:lnTo>
                  <a:pt x="1178645" y="801141"/>
                </a:lnTo>
              </a:path>
              <a:path w="1432559" h="1710689">
                <a:moveTo>
                  <a:pt x="1101656" y="667791"/>
                </a:moveTo>
                <a:lnTo>
                  <a:pt x="793095" y="489644"/>
                </a:lnTo>
              </a:path>
              <a:path w="1432559" h="1710689">
                <a:moveTo>
                  <a:pt x="742776" y="356294"/>
                </a:moveTo>
                <a:lnTo>
                  <a:pt x="742776" y="0"/>
                </a:lnTo>
              </a:path>
              <a:path w="1432559" h="1710689">
                <a:moveTo>
                  <a:pt x="689436" y="356294"/>
                </a:moveTo>
                <a:lnTo>
                  <a:pt x="689436" y="0"/>
                </a:lnTo>
              </a:path>
              <a:path w="1432559" h="1710689">
                <a:moveTo>
                  <a:pt x="166018" y="727679"/>
                </a:moveTo>
                <a:lnTo>
                  <a:pt x="0" y="756951"/>
                </a:lnTo>
              </a:path>
              <a:path w="1432559" h="1710689">
                <a:moveTo>
                  <a:pt x="223161" y="628703"/>
                </a:moveTo>
                <a:lnTo>
                  <a:pt x="165503" y="470291"/>
                </a:lnTo>
              </a:path>
              <a:path w="1432559" h="1710689">
                <a:moveTo>
                  <a:pt x="223161" y="1329874"/>
                </a:moveTo>
                <a:lnTo>
                  <a:pt x="165503" y="1488286"/>
                </a:lnTo>
              </a:path>
              <a:path w="1432559" h="1710689">
                <a:moveTo>
                  <a:pt x="166018" y="1230899"/>
                </a:moveTo>
                <a:lnTo>
                  <a:pt x="0" y="1201625"/>
                </a:lnTo>
              </a:path>
              <a:path w="1432559" h="1710689">
                <a:moveTo>
                  <a:pt x="658962" y="1581485"/>
                </a:moveTo>
                <a:lnTo>
                  <a:pt x="550602" y="1710622"/>
                </a:lnTo>
              </a:path>
              <a:path w="1432559" h="1710689">
                <a:moveTo>
                  <a:pt x="773249" y="1581485"/>
                </a:moveTo>
                <a:lnTo>
                  <a:pt x="881609" y="1710622"/>
                </a:lnTo>
              </a:path>
              <a:path w="1432559" h="1710689">
                <a:moveTo>
                  <a:pt x="1209051" y="1329874"/>
                </a:moveTo>
                <a:lnTo>
                  <a:pt x="1266708" y="1488286"/>
                </a:lnTo>
              </a:path>
              <a:path w="1432559" h="1710689">
                <a:moveTo>
                  <a:pt x="1266195" y="1230899"/>
                </a:moveTo>
                <a:lnTo>
                  <a:pt x="1432212" y="1201625"/>
                </a:lnTo>
              </a:path>
              <a:path w="1432559" h="1710689">
                <a:moveTo>
                  <a:pt x="1266195" y="727679"/>
                </a:moveTo>
                <a:lnTo>
                  <a:pt x="1432212" y="756951"/>
                </a:lnTo>
              </a:path>
              <a:path w="1432559" h="1710689">
                <a:moveTo>
                  <a:pt x="1209051" y="628703"/>
                </a:moveTo>
                <a:lnTo>
                  <a:pt x="1266708" y="470291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7">
            <a:extLst>
              <a:ext uri="{FF2B5EF4-FFF2-40B4-BE49-F238E27FC236}">
                <a16:creationId xmlns:a16="http://schemas.microsoft.com/office/drawing/2014/main" id="{7DE2FF5C-9D13-8915-AB7F-FCE10E58E997}"/>
              </a:ext>
            </a:extLst>
          </p:cNvPr>
          <p:cNvSpPr txBox="1"/>
          <p:nvPr/>
        </p:nvSpPr>
        <p:spPr>
          <a:xfrm>
            <a:off x="7383969" y="198360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2" name="object 27">
            <a:extLst>
              <a:ext uri="{FF2B5EF4-FFF2-40B4-BE49-F238E27FC236}">
                <a16:creationId xmlns:a16="http://schemas.microsoft.com/office/drawing/2014/main" id="{672568CC-8581-80A9-5943-19C1217647A0}"/>
              </a:ext>
            </a:extLst>
          </p:cNvPr>
          <p:cNvSpPr txBox="1"/>
          <p:nvPr/>
        </p:nvSpPr>
        <p:spPr>
          <a:xfrm>
            <a:off x="7403584" y="2503691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4" name="object 27">
            <a:extLst>
              <a:ext uri="{FF2B5EF4-FFF2-40B4-BE49-F238E27FC236}">
                <a16:creationId xmlns:a16="http://schemas.microsoft.com/office/drawing/2014/main" id="{ECD5A6B8-4614-8C87-B7BA-B6FEA44915DD}"/>
              </a:ext>
            </a:extLst>
          </p:cNvPr>
          <p:cNvSpPr txBox="1"/>
          <p:nvPr/>
        </p:nvSpPr>
        <p:spPr>
          <a:xfrm>
            <a:off x="8338451" y="198360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6" name="object 27">
            <a:extLst>
              <a:ext uri="{FF2B5EF4-FFF2-40B4-BE49-F238E27FC236}">
                <a16:creationId xmlns:a16="http://schemas.microsoft.com/office/drawing/2014/main" id="{AE91AE70-A907-8724-12CB-A267806078D3}"/>
              </a:ext>
            </a:extLst>
          </p:cNvPr>
          <p:cNvSpPr txBox="1"/>
          <p:nvPr/>
        </p:nvSpPr>
        <p:spPr>
          <a:xfrm>
            <a:off x="8320000" y="250369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8" name="object 27">
            <a:extLst>
              <a:ext uri="{FF2B5EF4-FFF2-40B4-BE49-F238E27FC236}">
                <a16:creationId xmlns:a16="http://schemas.microsoft.com/office/drawing/2014/main" id="{DB55F8EA-4AA7-1CF7-24A1-AA16653F2316}"/>
              </a:ext>
            </a:extLst>
          </p:cNvPr>
          <p:cNvSpPr txBox="1"/>
          <p:nvPr/>
        </p:nvSpPr>
        <p:spPr>
          <a:xfrm>
            <a:off x="7864683" y="279373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0" name="object 34">
            <a:extLst>
              <a:ext uri="{FF2B5EF4-FFF2-40B4-BE49-F238E27FC236}">
                <a16:creationId xmlns:a16="http://schemas.microsoft.com/office/drawing/2014/main" id="{54D9003B-7625-31BF-AB16-D4E4511CEE45}"/>
              </a:ext>
            </a:extLst>
          </p:cNvPr>
          <p:cNvSpPr txBox="1"/>
          <p:nvPr/>
        </p:nvSpPr>
        <p:spPr>
          <a:xfrm>
            <a:off x="7270712" y="166493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2" name="object 34">
            <a:extLst>
              <a:ext uri="{FF2B5EF4-FFF2-40B4-BE49-F238E27FC236}">
                <a16:creationId xmlns:a16="http://schemas.microsoft.com/office/drawing/2014/main" id="{A57D8D3D-73E2-416D-E211-DDC26AFB2917}"/>
              </a:ext>
            </a:extLst>
          </p:cNvPr>
          <p:cNvSpPr txBox="1"/>
          <p:nvPr/>
        </p:nvSpPr>
        <p:spPr>
          <a:xfrm>
            <a:off x="7048258" y="202881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4" name="object 34">
            <a:extLst>
              <a:ext uri="{FF2B5EF4-FFF2-40B4-BE49-F238E27FC236}">
                <a16:creationId xmlns:a16="http://schemas.microsoft.com/office/drawing/2014/main" id="{C1E05EF7-EF1D-91FE-5434-923BFFDDFE19}"/>
              </a:ext>
            </a:extLst>
          </p:cNvPr>
          <p:cNvSpPr txBox="1"/>
          <p:nvPr/>
        </p:nvSpPr>
        <p:spPr>
          <a:xfrm>
            <a:off x="7044678" y="244133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6" name="object 34">
            <a:extLst>
              <a:ext uri="{FF2B5EF4-FFF2-40B4-BE49-F238E27FC236}">
                <a16:creationId xmlns:a16="http://schemas.microsoft.com/office/drawing/2014/main" id="{ED9A0539-03BA-60F0-13B2-C587E083BE1E}"/>
              </a:ext>
            </a:extLst>
          </p:cNvPr>
          <p:cNvSpPr txBox="1"/>
          <p:nvPr/>
        </p:nvSpPr>
        <p:spPr>
          <a:xfrm>
            <a:off x="8508760" y="168923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8" name="object 34">
            <a:extLst>
              <a:ext uri="{FF2B5EF4-FFF2-40B4-BE49-F238E27FC236}">
                <a16:creationId xmlns:a16="http://schemas.microsoft.com/office/drawing/2014/main" id="{A4F4A9A2-66DD-1B6D-5636-46C4D3395412}"/>
              </a:ext>
            </a:extLst>
          </p:cNvPr>
          <p:cNvSpPr txBox="1"/>
          <p:nvPr/>
        </p:nvSpPr>
        <p:spPr>
          <a:xfrm>
            <a:off x="8693340" y="204404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0" name="object 34">
            <a:extLst>
              <a:ext uri="{FF2B5EF4-FFF2-40B4-BE49-F238E27FC236}">
                <a16:creationId xmlns:a16="http://schemas.microsoft.com/office/drawing/2014/main" id="{B12B020A-1F38-11A6-69BF-6D690315D501}"/>
              </a:ext>
            </a:extLst>
          </p:cNvPr>
          <p:cNvSpPr txBox="1"/>
          <p:nvPr/>
        </p:nvSpPr>
        <p:spPr>
          <a:xfrm>
            <a:off x="8661160" y="244133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2" name="object 34">
            <a:extLst>
              <a:ext uri="{FF2B5EF4-FFF2-40B4-BE49-F238E27FC236}">
                <a16:creationId xmlns:a16="http://schemas.microsoft.com/office/drawing/2014/main" id="{E40616E6-B84B-8090-3BA6-86CB003C99CF}"/>
              </a:ext>
            </a:extLst>
          </p:cNvPr>
          <p:cNvSpPr txBox="1"/>
          <p:nvPr/>
        </p:nvSpPr>
        <p:spPr>
          <a:xfrm>
            <a:off x="8400045" y="286245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4" name="object 34">
            <a:extLst>
              <a:ext uri="{FF2B5EF4-FFF2-40B4-BE49-F238E27FC236}">
                <a16:creationId xmlns:a16="http://schemas.microsoft.com/office/drawing/2014/main" id="{8743F8F1-FEBF-1FFA-208C-A74845500C8F}"/>
              </a:ext>
            </a:extLst>
          </p:cNvPr>
          <p:cNvSpPr txBox="1"/>
          <p:nvPr/>
        </p:nvSpPr>
        <p:spPr>
          <a:xfrm>
            <a:off x="7270712" y="285264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6" name="object 34">
            <a:extLst>
              <a:ext uri="{FF2B5EF4-FFF2-40B4-BE49-F238E27FC236}">
                <a16:creationId xmlns:a16="http://schemas.microsoft.com/office/drawing/2014/main" id="{A4D3440D-B56D-227B-6D2A-55621AD91353}"/>
              </a:ext>
            </a:extLst>
          </p:cNvPr>
          <p:cNvSpPr txBox="1"/>
          <p:nvPr/>
        </p:nvSpPr>
        <p:spPr>
          <a:xfrm>
            <a:off x="8070769" y="306602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8" name="object 34">
            <a:extLst>
              <a:ext uri="{FF2B5EF4-FFF2-40B4-BE49-F238E27FC236}">
                <a16:creationId xmlns:a16="http://schemas.microsoft.com/office/drawing/2014/main" id="{745080AF-7AB5-7B54-87C6-79708B2CCC65}"/>
              </a:ext>
            </a:extLst>
          </p:cNvPr>
          <p:cNvSpPr txBox="1"/>
          <p:nvPr/>
        </p:nvSpPr>
        <p:spPr>
          <a:xfrm>
            <a:off x="7585154" y="306602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0" name="object 32">
            <a:extLst>
              <a:ext uri="{FF2B5EF4-FFF2-40B4-BE49-F238E27FC236}">
                <a16:creationId xmlns:a16="http://schemas.microsoft.com/office/drawing/2014/main" id="{1C403181-C6E5-CC06-4D9E-D83A6F5BAB3B}"/>
              </a:ext>
            </a:extLst>
          </p:cNvPr>
          <p:cNvSpPr txBox="1"/>
          <p:nvPr/>
        </p:nvSpPr>
        <p:spPr>
          <a:xfrm>
            <a:off x="7856427" y="1213622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2" name="object 40">
            <a:extLst>
              <a:ext uri="{FF2B5EF4-FFF2-40B4-BE49-F238E27FC236}">
                <a16:creationId xmlns:a16="http://schemas.microsoft.com/office/drawing/2014/main" id="{2B459F33-A3D9-D07F-86E3-AD1FCB330E95}"/>
              </a:ext>
            </a:extLst>
          </p:cNvPr>
          <p:cNvSpPr/>
          <p:nvPr/>
        </p:nvSpPr>
        <p:spPr>
          <a:xfrm>
            <a:off x="7786376" y="1251752"/>
            <a:ext cx="269240" cy="85090"/>
          </a:xfrm>
          <a:custGeom>
            <a:avLst/>
            <a:gdLst/>
            <a:ahLst/>
            <a:cxnLst/>
            <a:rect l="l" t="t" r="r" b="b"/>
            <a:pathLst>
              <a:path w="269240" h="85090">
                <a:moveTo>
                  <a:pt x="31750" y="59905"/>
                </a:moveTo>
                <a:lnTo>
                  <a:pt x="24650" y="52793"/>
                </a:lnTo>
                <a:lnTo>
                  <a:pt x="7112" y="52793"/>
                </a:lnTo>
                <a:lnTo>
                  <a:pt x="0" y="59905"/>
                </a:lnTo>
                <a:lnTo>
                  <a:pt x="0" y="77444"/>
                </a:lnTo>
                <a:lnTo>
                  <a:pt x="7112" y="84543"/>
                </a:lnTo>
                <a:lnTo>
                  <a:pt x="24650" y="84543"/>
                </a:lnTo>
                <a:lnTo>
                  <a:pt x="31750" y="77444"/>
                </a:lnTo>
                <a:lnTo>
                  <a:pt x="31750" y="68668"/>
                </a:lnTo>
                <a:lnTo>
                  <a:pt x="31750" y="59905"/>
                </a:lnTo>
                <a:close/>
              </a:path>
              <a:path w="269240" h="85090">
                <a:moveTo>
                  <a:pt x="62230" y="7112"/>
                </a:moveTo>
                <a:lnTo>
                  <a:pt x="55130" y="0"/>
                </a:lnTo>
                <a:lnTo>
                  <a:pt x="37592" y="0"/>
                </a:lnTo>
                <a:lnTo>
                  <a:pt x="30480" y="7112"/>
                </a:lnTo>
                <a:lnTo>
                  <a:pt x="30480" y="24650"/>
                </a:lnTo>
                <a:lnTo>
                  <a:pt x="37592" y="31750"/>
                </a:lnTo>
                <a:lnTo>
                  <a:pt x="55130" y="31750"/>
                </a:lnTo>
                <a:lnTo>
                  <a:pt x="62230" y="24650"/>
                </a:lnTo>
                <a:lnTo>
                  <a:pt x="62230" y="15875"/>
                </a:lnTo>
                <a:lnTo>
                  <a:pt x="62230" y="7112"/>
                </a:lnTo>
                <a:close/>
              </a:path>
              <a:path w="269240" h="85090">
                <a:moveTo>
                  <a:pt x="238531" y="7112"/>
                </a:moveTo>
                <a:lnTo>
                  <a:pt x="231419" y="0"/>
                </a:lnTo>
                <a:lnTo>
                  <a:pt x="213880" y="0"/>
                </a:lnTo>
                <a:lnTo>
                  <a:pt x="206781" y="7112"/>
                </a:lnTo>
                <a:lnTo>
                  <a:pt x="206781" y="24650"/>
                </a:lnTo>
                <a:lnTo>
                  <a:pt x="213880" y="31750"/>
                </a:lnTo>
                <a:lnTo>
                  <a:pt x="231419" y="31750"/>
                </a:lnTo>
                <a:lnTo>
                  <a:pt x="238531" y="24650"/>
                </a:lnTo>
                <a:lnTo>
                  <a:pt x="238531" y="15875"/>
                </a:lnTo>
                <a:lnTo>
                  <a:pt x="238531" y="7112"/>
                </a:lnTo>
                <a:close/>
              </a:path>
              <a:path w="269240" h="85090">
                <a:moveTo>
                  <a:pt x="269011" y="59905"/>
                </a:moveTo>
                <a:lnTo>
                  <a:pt x="261899" y="52793"/>
                </a:lnTo>
                <a:lnTo>
                  <a:pt x="244360" y="52793"/>
                </a:lnTo>
                <a:lnTo>
                  <a:pt x="237261" y="59905"/>
                </a:lnTo>
                <a:lnTo>
                  <a:pt x="237261" y="77444"/>
                </a:lnTo>
                <a:lnTo>
                  <a:pt x="244360" y="84543"/>
                </a:lnTo>
                <a:lnTo>
                  <a:pt x="261899" y="84543"/>
                </a:lnTo>
                <a:lnTo>
                  <a:pt x="269011" y="77444"/>
                </a:lnTo>
                <a:lnTo>
                  <a:pt x="269011" y="68668"/>
                </a:lnTo>
                <a:lnTo>
                  <a:pt x="269011" y="59905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45">
            <a:extLst>
              <a:ext uri="{FF2B5EF4-FFF2-40B4-BE49-F238E27FC236}">
                <a16:creationId xmlns:a16="http://schemas.microsoft.com/office/drawing/2014/main" id="{2DF84744-CE90-0996-5F80-AF0A1E652947}"/>
              </a:ext>
            </a:extLst>
          </p:cNvPr>
          <p:cNvSpPr/>
          <p:nvPr/>
        </p:nvSpPr>
        <p:spPr>
          <a:xfrm>
            <a:off x="5054294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45">
            <a:extLst>
              <a:ext uri="{FF2B5EF4-FFF2-40B4-BE49-F238E27FC236}">
                <a16:creationId xmlns:a16="http://schemas.microsoft.com/office/drawing/2014/main" id="{CF5611A2-64D3-813C-ED23-BA756CDD80E6}"/>
              </a:ext>
            </a:extLst>
          </p:cNvPr>
          <p:cNvSpPr/>
          <p:nvPr/>
        </p:nvSpPr>
        <p:spPr>
          <a:xfrm>
            <a:off x="6403695" y="6499415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45">
            <a:extLst>
              <a:ext uri="{FF2B5EF4-FFF2-40B4-BE49-F238E27FC236}">
                <a16:creationId xmlns:a16="http://schemas.microsoft.com/office/drawing/2014/main" id="{6C8F1040-1534-DD90-4865-E8FB4763C378}"/>
              </a:ext>
            </a:extLst>
          </p:cNvPr>
          <p:cNvSpPr/>
          <p:nvPr/>
        </p:nvSpPr>
        <p:spPr>
          <a:xfrm>
            <a:off x="3880814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45">
            <a:extLst>
              <a:ext uri="{FF2B5EF4-FFF2-40B4-BE49-F238E27FC236}">
                <a16:creationId xmlns:a16="http://schemas.microsoft.com/office/drawing/2014/main" id="{FC26DDF3-D69E-8449-E78C-BD6071B83CA9}"/>
              </a:ext>
            </a:extLst>
          </p:cNvPr>
          <p:cNvSpPr/>
          <p:nvPr/>
        </p:nvSpPr>
        <p:spPr>
          <a:xfrm>
            <a:off x="2565094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9866376" cy="658368"/>
          </a:xfrm>
          <a:prstGeom prst="rect">
            <a:avLst/>
          </a:prstGeom>
          <a:solidFill>
            <a:srgbClr val="1E354D"/>
          </a:solidFill>
          <a:ln>
            <a:solidFill>
              <a:srgbClr val="1E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93192"/>
            <a:ext cx="95554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CARD 08 — ACETAMINOPHEN (PARACETAMOL)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94944"/>
            <a:ext cx="941832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Molecular Formula: C₈H₉NO₂     |     IUPAC name: N-(4-hydroxyphenyl)acetamide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70432"/>
            <a:ext cx="4864608" cy="2240280"/>
          </a:xfrm>
          <a:prstGeom prst="rect">
            <a:avLst/>
          </a:prstGeom>
          <a:solidFill>
            <a:srgbClr val="E2EBF4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1. MOLECULAR FORMULA / IDENTITY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9584" y="1950479"/>
            <a:ext cx="2355387" cy="68018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4000" b="1" dirty="0">
                <a:solidFill>
                  <a:srgbClr val="1E354D"/>
                </a:solidFill>
                <a:latin typeface="Aptos"/>
              </a:rPr>
              <a:t>C₈H₉NO₂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2. LEWIS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566160"/>
            <a:ext cx="4864608" cy="2395728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3. CONDENSED STRUCTURAL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808" y="4371540"/>
            <a:ext cx="5348002" cy="55707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lang="pt-BR" sz="3200" b="1" dirty="0">
                <a:solidFill>
                  <a:srgbClr val="1E354D"/>
                </a:solidFill>
                <a:latin typeface="Aptos"/>
              </a:rPr>
              <a:t>CH</a:t>
            </a:r>
            <a:r>
              <a:rPr lang="en-PH" sz="3200" b="1" dirty="0">
                <a:solidFill>
                  <a:srgbClr val="1E354D"/>
                </a:solidFill>
                <a:latin typeface="Aptos"/>
              </a:rPr>
              <a:t>₃</a:t>
            </a:r>
            <a:r>
              <a:rPr lang="pt-BR" sz="3200" b="1" dirty="0">
                <a:solidFill>
                  <a:srgbClr val="1E354D"/>
                </a:solidFill>
                <a:latin typeface="Aptos"/>
              </a:rPr>
              <a:t>C(=O)NH–C</a:t>
            </a:r>
            <a:r>
              <a:rPr lang="en-PH" sz="3200" b="1" dirty="0">
                <a:solidFill>
                  <a:srgbClr val="1E354D"/>
                </a:solidFill>
                <a:latin typeface="Aptos"/>
              </a:rPr>
              <a:t>₆</a:t>
            </a:r>
            <a:r>
              <a:rPr lang="pt-BR" sz="3200" b="1" dirty="0">
                <a:solidFill>
                  <a:srgbClr val="1E354D"/>
                </a:solidFill>
                <a:latin typeface="Aptos"/>
              </a:rPr>
              <a:t>H</a:t>
            </a:r>
            <a:r>
              <a:rPr lang="en-PH" sz="3200" b="1" dirty="0">
                <a:solidFill>
                  <a:srgbClr val="1E354D"/>
                </a:solidFill>
                <a:latin typeface="Aptos"/>
              </a:rPr>
              <a:t>₄</a:t>
            </a:r>
            <a:r>
              <a:rPr lang="pt-BR" sz="3200" b="1" dirty="0">
                <a:solidFill>
                  <a:srgbClr val="1E354D"/>
                </a:solidFill>
                <a:latin typeface="Aptos"/>
              </a:rPr>
              <a:t>–OH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3248" y="3566160"/>
            <a:ext cx="4864608" cy="2395728"/>
          </a:xfrm>
          <a:prstGeom prst="rect">
            <a:avLst/>
          </a:prstGeom>
          <a:solidFill>
            <a:srgbClr val="FFEED6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dirty="0">
                <a:solidFill>
                  <a:srgbClr val="1E354D"/>
                </a:solidFill>
                <a:latin typeface="Aptos"/>
              </a:rPr>
              <a:t>4. BOND-LINE FORMULA (KETCHER)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108192"/>
            <a:ext cx="9866376" cy="685800"/>
          </a:xfrm>
          <a:prstGeom prst="rect">
            <a:avLst/>
          </a:prstGeom>
          <a:solidFill>
            <a:srgbClr val="DEF1E2"/>
          </a:solidFill>
          <a:ln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190488"/>
            <a:ext cx="95554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1">
                <a:solidFill>
                  <a:srgbClr val="1E354D"/>
                </a:solidFill>
                <a:latin typeface="Aptos"/>
              </a:rPr>
              <a:t>VERIFICATION STRIP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955548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0" dirty="0">
                <a:solidFill>
                  <a:srgbClr val="1E354D"/>
                </a:solidFill>
                <a:latin typeface="Aptos"/>
              </a:rPr>
              <a:t>☐ atom count verified     ☐ valence checked     ☐ bond order checked     ☐ same connectivity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7022592"/>
            <a:ext cx="9866376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800" b="0">
                <a:solidFill>
                  <a:srgbClr val="64707C"/>
                </a:solidFill>
                <a:latin typeface="Aptos"/>
              </a:rPr>
              <a:t>CHEM 13 | Organic Chemistry (Lecture) | Bicol University — College of Engineering | Department of Chemical Engineering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744060A-D9D4-0D3A-5F6F-7382BAD5C91F}"/>
              </a:ext>
            </a:extLst>
          </p:cNvPr>
          <p:cNvGrpSpPr/>
          <p:nvPr/>
        </p:nvGrpSpPr>
        <p:grpSpPr>
          <a:xfrm>
            <a:off x="5413248" y="1170432"/>
            <a:ext cx="4864608" cy="2240280"/>
            <a:chOff x="5413248" y="1170432"/>
            <a:chExt cx="4864608" cy="2240280"/>
          </a:xfrm>
        </p:grpSpPr>
        <p:sp>
          <p:nvSpPr>
            <p:cNvPr id="8" name="Rectangle 7"/>
            <p:cNvSpPr/>
            <p:nvPr/>
          </p:nvSpPr>
          <p:spPr>
            <a:xfrm>
              <a:off x="5413248" y="1170432"/>
              <a:ext cx="4864608" cy="224028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AFBA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1" name="object 25">
              <a:extLst>
                <a:ext uri="{FF2B5EF4-FFF2-40B4-BE49-F238E27FC236}">
                  <a16:creationId xmlns:a16="http://schemas.microsoft.com/office/drawing/2014/main" id="{CDE778A8-D587-0CCF-4166-E6D31A382F1F}"/>
                </a:ext>
              </a:extLst>
            </p:cNvPr>
            <p:cNvSpPr/>
            <p:nvPr/>
          </p:nvSpPr>
          <p:spPr>
            <a:xfrm>
              <a:off x="5703465" y="1489710"/>
              <a:ext cx="4199255" cy="1612900"/>
            </a:xfrm>
            <a:custGeom>
              <a:avLst/>
              <a:gdLst/>
              <a:ahLst/>
              <a:cxnLst/>
              <a:rect l="l" t="t" r="r" b="b"/>
              <a:pathLst>
                <a:path w="4199255" h="1612900">
                  <a:moveTo>
                    <a:pt x="435863" y="806411"/>
                  </a:moveTo>
                  <a:lnTo>
                    <a:pt x="842263" y="806411"/>
                  </a:lnTo>
                </a:path>
                <a:path w="4199255" h="1612900">
                  <a:moveTo>
                    <a:pt x="957833" y="717511"/>
                  </a:moveTo>
                  <a:lnTo>
                    <a:pt x="957833" y="311111"/>
                  </a:lnTo>
                </a:path>
                <a:path w="4199255" h="1612900">
                  <a:moveTo>
                    <a:pt x="904494" y="717511"/>
                  </a:moveTo>
                  <a:lnTo>
                    <a:pt x="904494" y="311111"/>
                  </a:lnTo>
                </a:path>
                <a:path w="4199255" h="1612900">
                  <a:moveTo>
                    <a:pt x="1020063" y="806411"/>
                  </a:moveTo>
                  <a:lnTo>
                    <a:pt x="1426463" y="806411"/>
                  </a:lnTo>
                </a:path>
                <a:path w="4199255" h="1612900">
                  <a:moveTo>
                    <a:pt x="1604263" y="806411"/>
                  </a:moveTo>
                  <a:lnTo>
                    <a:pt x="2010663" y="806411"/>
                  </a:lnTo>
                </a:path>
                <a:path w="4199255" h="1612900">
                  <a:moveTo>
                    <a:pt x="2120917" y="896736"/>
                  </a:moveTo>
                  <a:lnTo>
                    <a:pt x="2324117" y="1248689"/>
                  </a:lnTo>
                </a:path>
                <a:path w="4199255" h="1612900">
                  <a:moveTo>
                    <a:pt x="2167111" y="870066"/>
                  </a:moveTo>
                  <a:lnTo>
                    <a:pt x="2370311" y="1222019"/>
                  </a:lnTo>
                </a:path>
                <a:path w="4199255" h="1612900">
                  <a:moveTo>
                    <a:pt x="2480563" y="1312344"/>
                  </a:moveTo>
                  <a:lnTo>
                    <a:pt x="2886963" y="1312344"/>
                  </a:lnTo>
                </a:path>
                <a:path w="4199255" h="1612900">
                  <a:moveTo>
                    <a:pt x="3043411" y="1248689"/>
                  </a:moveTo>
                  <a:lnTo>
                    <a:pt x="3246611" y="896736"/>
                  </a:lnTo>
                </a:path>
                <a:path w="4199255" h="1612900">
                  <a:moveTo>
                    <a:pt x="2997217" y="1222019"/>
                  </a:moveTo>
                  <a:lnTo>
                    <a:pt x="3200417" y="870066"/>
                  </a:lnTo>
                </a:path>
                <a:path w="4199255" h="1612900">
                  <a:moveTo>
                    <a:pt x="3223513" y="729421"/>
                  </a:moveTo>
                  <a:lnTo>
                    <a:pt x="3020313" y="377469"/>
                  </a:lnTo>
                </a:path>
                <a:path w="4199255" h="1612900">
                  <a:moveTo>
                    <a:pt x="2886963" y="273809"/>
                  </a:moveTo>
                  <a:lnTo>
                    <a:pt x="2480563" y="273809"/>
                  </a:lnTo>
                </a:path>
                <a:path w="4199255" h="1612900">
                  <a:moveTo>
                    <a:pt x="2886963" y="327149"/>
                  </a:moveTo>
                  <a:lnTo>
                    <a:pt x="2480563" y="327149"/>
                  </a:lnTo>
                </a:path>
                <a:path w="4199255" h="1612900">
                  <a:moveTo>
                    <a:pt x="2347213" y="377469"/>
                  </a:moveTo>
                  <a:lnTo>
                    <a:pt x="2144013" y="729421"/>
                  </a:lnTo>
                </a:path>
                <a:path w="4199255" h="1612900">
                  <a:moveTo>
                    <a:pt x="3356863" y="806411"/>
                  </a:moveTo>
                  <a:lnTo>
                    <a:pt x="3763263" y="806411"/>
                  </a:lnTo>
                </a:path>
                <a:path w="4199255" h="1612900">
                  <a:moveTo>
                    <a:pt x="258063" y="806411"/>
                  </a:moveTo>
                  <a:lnTo>
                    <a:pt x="0" y="806411"/>
                  </a:lnTo>
                </a:path>
                <a:path w="4199255" h="1612900">
                  <a:moveTo>
                    <a:pt x="346963" y="895311"/>
                  </a:moveTo>
                  <a:lnTo>
                    <a:pt x="346963" y="1153375"/>
                  </a:lnTo>
                </a:path>
                <a:path w="4199255" h="1612900">
                  <a:moveTo>
                    <a:pt x="346963" y="717511"/>
                  </a:moveTo>
                  <a:lnTo>
                    <a:pt x="346963" y="459447"/>
                  </a:lnTo>
                </a:path>
                <a:path w="4199255" h="1612900">
                  <a:moveTo>
                    <a:pt x="1515363" y="895311"/>
                  </a:moveTo>
                  <a:lnTo>
                    <a:pt x="1515363" y="1153375"/>
                  </a:lnTo>
                </a:path>
                <a:path w="4199255" h="1612900">
                  <a:moveTo>
                    <a:pt x="2347213" y="1389334"/>
                  </a:moveTo>
                  <a:lnTo>
                    <a:pt x="2218181" y="1612823"/>
                  </a:lnTo>
                </a:path>
                <a:path w="4199255" h="1612900">
                  <a:moveTo>
                    <a:pt x="3020313" y="1389334"/>
                  </a:moveTo>
                  <a:lnTo>
                    <a:pt x="3149346" y="1612823"/>
                  </a:lnTo>
                </a:path>
                <a:path w="4199255" h="1612900">
                  <a:moveTo>
                    <a:pt x="3020313" y="223490"/>
                  </a:moveTo>
                  <a:lnTo>
                    <a:pt x="3149346" y="0"/>
                  </a:lnTo>
                </a:path>
                <a:path w="4199255" h="1612900">
                  <a:moveTo>
                    <a:pt x="2347213" y="223490"/>
                  </a:moveTo>
                  <a:lnTo>
                    <a:pt x="2218181" y="0"/>
                  </a:lnTo>
                </a:path>
                <a:path w="4199255" h="1612900">
                  <a:moveTo>
                    <a:pt x="3941063" y="806411"/>
                  </a:moveTo>
                  <a:lnTo>
                    <a:pt x="4199128" y="806411"/>
                  </a:lnTo>
                </a:path>
              </a:pathLst>
            </a:custGeom>
            <a:ln w="15875">
              <a:solidFill>
                <a:srgbClr val="111111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6" name="object 31">
            <a:extLst>
              <a:ext uri="{FF2B5EF4-FFF2-40B4-BE49-F238E27FC236}">
                <a16:creationId xmlns:a16="http://schemas.microsoft.com/office/drawing/2014/main" id="{B3DDDC56-F30D-B4BE-5967-1E46FA5E756B}"/>
              </a:ext>
            </a:extLst>
          </p:cNvPr>
          <p:cNvSpPr txBox="1"/>
          <p:nvPr/>
        </p:nvSpPr>
        <p:spPr>
          <a:xfrm>
            <a:off x="6568495" y="218074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8" name="object 31">
            <a:extLst>
              <a:ext uri="{FF2B5EF4-FFF2-40B4-BE49-F238E27FC236}">
                <a16:creationId xmlns:a16="http://schemas.microsoft.com/office/drawing/2014/main" id="{5A49DD30-D66D-BEED-2DCB-6520C79ECFCA}"/>
              </a:ext>
            </a:extLst>
          </p:cNvPr>
          <p:cNvSpPr txBox="1"/>
          <p:nvPr/>
        </p:nvSpPr>
        <p:spPr>
          <a:xfrm>
            <a:off x="6015514" y="219676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0" name="object 31">
            <a:extLst>
              <a:ext uri="{FF2B5EF4-FFF2-40B4-BE49-F238E27FC236}">
                <a16:creationId xmlns:a16="http://schemas.microsoft.com/office/drawing/2014/main" id="{DAEBE173-8BAD-173B-1930-DEA8C99A0E80}"/>
              </a:ext>
            </a:extLst>
          </p:cNvPr>
          <p:cNvSpPr txBox="1"/>
          <p:nvPr/>
        </p:nvSpPr>
        <p:spPr>
          <a:xfrm>
            <a:off x="8025279" y="168966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89069223-CD98-506F-4A7B-688DADACC5F7}"/>
              </a:ext>
            </a:extLst>
          </p:cNvPr>
          <p:cNvSpPr txBox="1"/>
          <p:nvPr/>
        </p:nvSpPr>
        <p:spPr>
          <a:xfrm>
            <a:off x="8629687" y="167802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4" name="object 31">
            <a:extLst>
              <a:ext uri="{FF2B5EF4-FFF2-40B4-BE49-F238E27FC236}">
                <a16:creationId xmlns:a16="http://schemas.microsoft.com/office/drawing/2014/main" id="{CAFB8A17-A0DE-2323-473F-F78AF231A720}"/>
              </a:ext>
            </a:extLst>
          </p:cNvPr>
          <p:cNvSpPr txBox="1"/>
          <p:nvPr/>
        </p:nvSpPr>
        <p:spPr>
          <a:xfrm>
            <a:off x="7803092" y="218643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6" name="object 31">
            <a:extLst>
              <a:ext uri="{FF2B5EF4-FFF2-40B4-BE49-F238E27FC236}">
                <a16:creationId xmlns:a16="http://schemas.microsoft.com/office/drawing/2014/main" id="{1E158B43-D5ED-8DBF-91D6-592C2F83748D}"/>
              </a:ext>
            </a:extLst>
          </p:cNvPr>
          <p:cNvSpPr txBox="1"/>
          <p:nvPr/>
        </p:nvSpPr>
        <p:spPr>
          <a:xfrm>
            <a:off x="8055422" y="269367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8" name="object 31">
            <a:extLst>
              <a:ext uri="{FF2B5EF4-FFF2-40B4-BE49-F238E27FC236}">
                <a16:creationId xmlns:a16="http://schemas.microsoft.com/office/drawing/2014/main" id="{C93B121B-7849-AD43-5947-F5B6F96867AA}"/>
              </a:ext>
            </a:extLst>
          </p:cNvPr>
          <p:cNvSpPr txBox="1"/>
          <p:nvPr/>
        </p:nvSpPr>
        <p:spPr>
          <a:xfrm>
            <a:off x="8629687" y="2707077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0" name="object 31">
            <a:extLst>
              <a:ext uri="{FF2B5EF4-FFF2-40B4-BE49-F238E27FC236}">
                <a16:creationId xmlns:a16="http://schemas.microsoft.com/office/drawing/2014/main" id="{F370C841-A361-BE81-9674-EB75D6C9EA77}"/>
              </a:ext>
            </a:extLst>
          </p:cNvPr>
          <p:cNvSpPr txBox="1"/>
          <p:nvPr/>
        </p:nvSpPr>
        <p:spPr>
          <a:xfrm>
            <a:off x="8909054" y="219569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2" name="object 39">
            <a:extLst>
              <a:ext uri="{FF2B5EF4-FFF2-40B4-BE49-F238E27FC236}">
                <a16:creationId xmlns:a16="http://schemas.microsoft.com/office/drawing/2014/main" id="{24CD0E61-AF6D-8580-7D97-665193B4D846}"/>
              </a:ext>
            </a:extLst>
          </p:cNvPr>
          <p:cNvSpPr txBox="1"/>
          <p:nvPr/>
        </p:nvSpPr>
        <p:spPr>
          <a:xfrm>
            <a:off x="9505707" y="2186432"/>
            <a:ext cx="548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24815" algn="l"/>
              </a:tabLst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4" name="object 35">
            <a:extLst>
              <a:ext uri="{FF2B5EF4-FFF2-40B4-BE49-F238E27FC236}">
                <a16:creationId xmlns:a16="http://schemas.microsoft.com/office/drawing/2014/main" id="{8D069166-1BAA-50F9-EA8C-3D412CFCA0EE}"/>
              </a:ext>
            </a:extLst>
          </p:cNvPr>
          <p:cNvSpPr txBox="1"/>
          <p:nvPr/>
        </p:nvSpPr>
        <p:spPr>
          <a:xfrm>
            <a:off x="7158916" y="263123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6" name="object 35">
            <a:extLst>
              <a:ext uri="{FF2B5EF4-FFF2-40B4-BE49-F238E27FC236}">
                <a16:creationId xmlns:a16="http://schemas.microsoft.com/office/drawing/2014/main" id="{4701B0DE-1554-08C6-0811-C028B448804E}"/>
              </a:ext>
            </a:extLst>
          </p:cNvPr>
          <p:cNvSpPr txBox="1"/>
          <p:nvPr/>
        </p:nvSpPr>
        <p:spPr>
          <a:xfrm>
            <a:off x="5987810" y="263123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8" name="object 35">
            <a:extLst>
              <a:ext uri="{FF2B5EF4-FFF2-40B4-BE49-F238E27FC236}">
                <a16:creationId xmlns:a16="http://schemas.microsoft.com/office/drawing/2014/main" id="{2B9A02CB-6C41-8723-AEBA-38B388306733}"/>
              </a:ext>
            </a:extLst>
          </p:cNvPr>
          <p:cNvSpPr txBox="1"/>
          <p:nvPr/>
        </p:nvSpPr>
        <p:spPr>
          <a:xfrm>
            <a:off x="5588137" y="217988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0" name="object 35">
            <a:extLst>
              <a:ext uri="{FF2B5EF4-FFF2-40B4-BE49-F238E27FC236}">
                <a16:creationId xmlns:a16="http://schemas.microsoft.com/office/drawing/2014/main" id="{1011B480-46B1-BA04-EA7E-10930E2824E5}"/>
              </a:ext>
            </a:extLst>
          </p:cNvPr>
          <p:cNvSpPr txBox="1"/>
          <p:nvPr/>
        </p:nvSpPr>
        <p:spPr>
          <a:xfrm>
            <a:off x="5987810" y="175989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2" name="object 35">
            <a:extLst>
              <a:ext uri="{FF2B5EF4-FFF2-40B4-BE49-F238E27FC236}">
                <a16:creationId xmlns:a16="http://schemas.microsoft.com/office/drawing/2014/main" id="{83BFDEB8-2FC6-D3E7-C836-745F84A252AF}"/>
              </a:ext>
            </a:extLst>
          </p:cNvPr>
          <p:cNvSpPr txBox="1"/>
          <p:nvPr/>
        </p:nvSpPr>
        <p:spPr>
          <a:xfrm>
            <a:off x="8875284" y="1351597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4" name="object 35">
            <a:extLst>
              <a:ext uri="{FF2B5EF4-FFF2-40B4-BE49-F238E27FC236}">
                <a16:creationId xmlns:a16="http://schemas.microsoft.com/office/drawing/2014/main" id="{0EF74136-6C63-BBE7-B1C5-B08E457D08FA}"/>
              </a:ext>
            </a:extLst>
          </p:cNvPr>
          <p:cNvSpPr txBox="1"/>
          <p:nvPr/>
        </p:nvSpPr>
        <p:spPr>
          <a:xfrm>
            <a:off x="7803091" y="135159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6" name="object 35">
            <a:extLst>
              <a:ext uri="{FF2B5EF4-FFF2-40B4-BE49-F238E27FC236}">
                <a16:creationId xmlns:a16="http://schemas.microsoft.com/office/drawing/2014/main" id="{91C173E8-29F2-4A69-0802-F79756B5D048}"/>
              </a:ext>
            </a:extLst>
          </p:cNvPr>
          <p:cNvSpPr txBox="1"/>
          <p:nvPr/>
        </p:nvSpPr>
        <p:spPr>
          <a:xfrm>
            <a:off x="7803937" y="299847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8" name="object 35">
            <a:extLst>
              <a:ext uri="{FF2B5EF4-FFF2-40B4-BE49-F238E27FC236}">
                <a16:creationId xmlns:a16="http://schemas.microsoft.com/office/drawing/2014/main" id="{0A26B371-DE10-6A5D-090F-548961A1BE16}"/>
              </a:ext>
            </a:extLst>
          </p:cNvPr>
          <p:cNvSpPr txBox="1"/>
          <p:nvPr/>
        </p:nvSpPr>
        <p:spPr>
          <a:xfrm>
            <a:off x="8870204" y="3012187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65BAFF4D-AC47-F544-0F58-FB7C9F202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83144">
            <a:off x="6546137" y="4202299"/>
            <a:ext cx="2515598" cy="940793"/>
          </a:xfrm>
          <a:prstGeom prst="rect">
            <a:avLst/>
          </a:prstGeom>
        </p:spPr>
      </p:pic>
      <p:sp>
        <p:nvSpPr>
          <p:cNvPr id="63" name="object 45">
            <a:extLst>
              <a:ext uri="{FF2B5EF4-FFF2-40B4-BE49-F238E27FC236}">
                <a16:creationId xmlns:a16="http://schemas.microsoft.com/office/drawing/2014/main" id="{62B3624C-8021-A90D-25D6-A2260D5A77B7}"/>
              </a:ext>
            </a:extLst>
          </p:cNvPr>
          <p:cNvSpPr/>
          <p:nvPr/>
        </p:nvSpPr>
        <p:spPr>
          <a:xfrm>
            <a:off x="5054294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45">
            <a:extLst>
              <a:ext uri="{FF2B5EF4-FFF2-40B4-BE49-F238E27FC236}">
                <a16:creationId xmlns:a16="http://schemas.microsoft.com/office/drawing/2014/main" id="{F034CC5D-C98E-5E2E-6B00-07CFC83AFF35}"/>
              </a:ext>
            </a:extLst>
          </p:cNvPr>
          <p:cNvSpPr/>
          <p:nvPr/>
        </p:nvSpPr>
        <p:spPr>
          <a:xfrm>
            <a:off x="2584969" y="6505326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45">
            <a:extLst>
              <a:ext uri="{FF2B5EF4-FFF2-40B4-BE49-F238E27FC236}">
                <a16:creationId xmlns:a16="http://schemas.microsoft.com/office/drawing/2014/main" id="{7BA9A9A6-986D-4556-A347-09B247CD116C}"/>
              </a:ext>
            </a:extLst>
          </p:cNvPr>
          <p:cNvSpPr/>
          <p:nvPr/>
        </p:nvSpPr>
        <p:spPr>
          <a:xfrm>
            <a:off x="3889958" y="6505510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45">
            <a:extLst>
              <a:ext uri="{FF2B5EF4-FFF2-40B4-BE49-F238E27FC236}">
                <a16:creationId xmlns:a16="http://schemas.microsoft.com/office/drawing/2014/main" id="{B46A2409-A7D4-8F29-2D39-CBDD5A54525A}"/>
              </a:ext>
            </a:extLst>
          </p:cNvPr>
          <p:cNvSpPr/>
          <p:nvPr/>
        </p:nvSpPr>
        <p:spPr>
          <a:xfrm>
            <a:off x="6395414" y="6505511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40">
            <a:extLst>
              <a:ext uri="{FF2B5EF4-FFF2-40B4-BE49-F238E27FC236}">
                <a16:creationId xmlns:a16="http://schemas.microsoft.com/office/drawing/2014/main" id="{81123862-B8D9-E85A-7469-06BD6F4D829A}"/>
              </a:ext>
            </a:extLst>
          </p:cNvPr>
          <p:cNvSpPr/>
          <p:nvPr/>
        </p:nvSpPr>
        <p:spPr>
          <a:xfrm>
            <a:off x="6518985" y="1614739"/>
            <a:ext cx="3101975" cy="821690"/>
          </a:xfrm>
          <a:custGeom>
            <a:avLst/>
            <a:gdLst/>
            <a:ahLst/>
            <a:cxnLst/>
            <a:rect l="l" t="t" r="r" b="b"/>
            <a:pathLst>
              <a:path w="3101975" h="821689">
                <a:moveTo>
                  <a:pt x="31750" y="59905"/>
                </a:moveTo>
                <a:lnTo>
                  <a:pt x="24650" y="52793"/>
                </a:lnTo>
                <a:lnTo>
                  <a:pt x="7112" y="52793"/>
                </a:lnTo>
                <a:lnTo>
                  <a:pt x="0" y="59905"/>
                </a:lnTo>
                <a:lnTo>
                  <a:pt x="0" y="77444"/>
                </a:lnTo>
                <a:lnTo>
                  <a:pt x="7112" y="84543"/>
                </a:lnTo>
                <a:lnTo>
                  <a:pt x="24650" y="84543"/>
                </a:lnTo>
                <a:lnTo>
                  <a:pt x="31750" y="77444"/>
                </a:lnTo>
                <a:lnTo>
                  <a:pt x="31750" y="68668"/>
                </a:lnTo>
                <a:lnTo>
                  <a:pt x="31750" y="59905"/>
                </a:lnTo>
                <a:close/>
              </a:path>
              <a:path w="3101975" h="821689">
                <a:moveTo>
                  <a:pt x="62230" y="7112"/>
                </a:moveTo>
                <a:lnTo>
                  <a:pt x="55130" y="0"/>
                </a:lnTo>
                <a:lnTo>
                  <a:pt x="37592" y="0"/>
                </a:lnTo>
                <a:lnTo>
                  <a:pt x="30480" y="7112"/>
                </a:lnTo>
                <a:lnTo>
                  <a:pt x="30480" y="24650"/>
                </a:lnTo>
                <a:lnTo>
                  <a:pt x="37592" y="31750"/>
                </a:lnTo>
                <a:lnTo>
                  <a:pt x="55130" y="31750"/>
                </a:lnTo>
                <a:lnTo>
                  <a:pt x="62230" y="24650"/>
                </a:lnTo>
                <a:lnTo>
                  <a:pt x="62230" y="15875"/>
                </a:lnTo>
                <a:lnTo>
                  <a:pt x="62230" y="7112"/>
                </a:lnTo>
                <a:close/>
              </a:path>
              <a:path w="3101975" h="821689">
                <a:moveTo>
                  <a:pt x="238531" y="7112"/>
                </a:moveTo>
                <a:lnTo>
                  <a:pt x="231419" y="0"/>
                </a:lnTo>
                <a:lnTo>
                  <a:pt x="213880" y="0"/>
                </a:lnTo>
                <a:lnTo>
                  <a:pt x="206781" y="7112"/>
                </a:lnTo>
                <a:lnTo>
                  <a:pt x="206781" y="24650"/>
                </a:lnTo>
                <a:lnTo>
                  <a:pt x="213880" y="31750"/>
                </a:lnTo>
                <a:lnTo>
                  <a:pt x="231419" y="31750"/>
                </a:lnTo>
                <a:lnTo>
                  <a:pt x="238531" y="24650"/>
                </a:lnTo>
                <a:lnTo>
                  <a:pt x="238531" y="15875"/>
                </a:lnTo>
                <a:lnTo>
                  <a:pt x="238531" y="7112"/>
                </a:lnTo>
                <a:close/>
              </a:path>
              <a:path w="3101975" h="821689">
                <a:moveTo>
                  <a:pt x="269011" y="59905"/>
                </a:moveTo>
                <a:lnTo>
                  <a:pt x="261899" y="52793"/>
                </a:lnTo>
                <a:lnTo>
                  <a:pt x="244360" y="52793"/>
                </a:lnTo>
                <a:lnTo>
                  <a:pt x="237261" y="59905"/>
                </a:lnTo>
                <a:lnTo>
                  <a:pt x="237261" y="77444"/>
                </a:lnTo>
                <a:lnTo>
                  <a:pt x="244360" y="84543"/>
                </a:lnTo>
                <a:lnTo>
                  <a:pt x="261899" y="84543"/>
                </a:lnTo>
                <a:lnTo>
                  <a:pt x="269011" y="77444"/>
                </a:lnTo>
                <a:lnTo>
                  <a:pt x="269011" y="68668"/>
                </a:lnTo>
                <a:lnTo>
                  <a:pt x="269011" y="59905"/>
                </a:lnTo>
                <a:close/>
              </a:path>
              <a:path w="3101975" h="821689">
                <a:moveTo>
                  <a:pt x="704100" y="558012"/>
                </a:moveTo>
                <a:lnTo>
                  <a:pt x="696988" y="550913"/>
                </a:lnTo>
                <a:lnTo>
                  <a:pt x="679462" y="550913"/>
                </a:lnTo>
                <a:lnTo>
                  <a:pt x="672350" y="558012"/>
                </a:lnTo>
                <a:lnTo>
                  <a:pt x="672350" y="575551"/>
                </a:lnTo>
                <a:lnTo>
                  <a:pt x="679462" y="582663"/>
                </a:lnTo>
                <a:lnTo>
                  <a:pt x="696988" y="582663"/>
                </a:lnTo>
                <a:lnTo>
                  <a:pt x="704100" y="575551"/>
                </a:lnTo>
                <a:lnTo>
                  <a:pt x="704100" y="566788"/>
                </a:lnTo>
                <a:lnTo>
                  <a:pt x="704100" y="558012"/>
                </a:lnTo>
                <a:close/>
              </a:path>
              <a:path w="3101975" h="821689">
                <a:moveTo>
                  <a:pt x="765060" y="558012"/>
                </a:moveTo>
                <a:lnTo>
                  <a:pt x="757948" y="550913"/>
                </a:lnTo>
                <a:lnTo>
                  <a:pt x="740422" y="550913"/>
                </a:lnTo>
                <a:lnTo>
                  <a:pt x="733310" y="558012"/>
                </a:lnTo>
                <a:lnTo>
                  <a:pt x="733310" y="575551"/>
                </a:lnTo>
                <a:lnTo>
                  <a:pt x="740422" y="582663"/>
                </a:lnTo>
                <a:lnTo>
                  <a:pt x="757948" y="582663"/>
                </a:lnTo>
                <a:lnTo>
                  <a:pt x="765060" y="575551"/>
                </a:lnTo>
                <a:lnTo>
                  <a:pt x="765060" y="566788"/>
                </a:lnTo>
                <a:lnTo>
                  <a:pt x="765060" y="558012"/>
                </a:lnTo>
                <a:close/>
              </a:path>
              <a:path w="3101975" h="821689">
                <a:moveTo>
                  <a:pt x="3040900" y="796772"/>
                </a:moveTo>
                <a:lnTo>
                  <a:pt x="3033788" y="789673"/>
                </a:lnTo>
                <a:lnTo>
                  <a:pt x="3016262" y="789673"/>
                </a:lnTo>
                <a:lnTo>
                  <a:pt x="3009150" y="796772"/>
                </a:lnTo>
                <a:lnTo>
                  <a:pt x="3009150" y="814311"/>
                </a:lnTo>
                <a:lnTo>
                  <a:pt x="3016262" y="821423"/>
                </a:lnTo>
                <a:lnTo>
                  <a:pt x="3033788" y="821423"/>
                </a:lnTo>
                <a:lnTo>
                  <a:pt x="3040900" y="814311"/>
                </a:lnTo>
                <a:lnTo>
                  <a:pt x="3040900" y="805548"/>
                </a:lnTo>
                <a:lnTo>
                  <a:pt x="3040900" y="796772"/>
                </a:lnTo>
                <a:close/>
              </a:path>
              <a:path w="3101975" h="821689">
                <a:moveTo>
                  <a:pt x="3040900" y="558012"/>
                </a:moveTo>
                <a:lnTo>
                  <a:pt x="3033788" y="550913"/>
                </a:lnTo>
                <a:lnTo>
                  <a:pt x="3016262" y="550913"/>
                </a:lnTo>
                <a:lnTo>
                  <a:pt x="3009150" y="558012"/>
                </a:lnTo>
                <a:lnTo>
                  <a:pt x="3009150" y="575551"/>
                </a:lnTo>
                <a:lnTo>
                  <a:pt x="3016262" y="582663"/>
                </a:lnTo>
                <a:lnTo>
                  <a:pt x="3033788" y="582663"/>
                </a:lnTo>
                <a:lnTo>
                  <a:pt x="3040900" y="575551"/>
                </a:lnTo>
                <a:lnTo>
                  <a:pt x="3040900" y="566788"/>
                </a:lnTo>
                <a:lnTo>
                  <a:pt x="3040900" y="558012"/>
                </a:lnTo>
                <a:close/>
              </a:path>
              <a:path w="3101975" h="821689">
                <a:moveTo>
                  <a:pt x="3101860" y="796772"/>
                </a:moveTo>
                <a:lnTo>
                  <a:pt x="3094748" y="789673"/>
                </a:lnTo>
                <a:lnTo>
                  <a:pt x="3077222" y="789673"/>
                </a:lnTo>
                <a:lnTo>
                  <a:pt x="3070110" y="796772"/>
                </a:lnTo>
                <a:lnTo>
                  <a:pt x="3070110" y="814311"/>
                </a:lnTo>
                <a:lnTo>
                  <a:pt x="3077222" y="821423"/>
                </a:lnTo>
                <a:lnTo>
                  <a:pt x="3094748" y="821423"/>
                </a:lnTo>
                <a:lnTo>
                  <a:pt x="3101860" y="814311"/>
                </a:lnTo>
                <a:lnTo>
                  <a:pt x="3101860" y="805548"/>
                </a:lnTo>
                <a:lnTo>
                  <a:pt x="3101860" y="796772"/>
                </a:lnTo>
                <a:close/>
              </a:path>
              <a:path w="3101975" h="821689">
                <a:moveTo>
                  <a:pt x="3101860" y="558012"/>
                </a:moveTo>
                <a:lnTo>
                  <a:pt x="3094748" y="550913"/>
                </a:lnTo>
                <a:lnTo>
                  <a:pt x="3077222" y="550913"/>
                </a:lnTo>
                <a:lnTo>
                  <a:pt x="3070110" y="558012"/>
                </a:lnTo>
                <a:lnTo>
                  <a:pt x="3070110" y="575551"/>
                </a:lnTo>
                <a:lnTo>
                  <a:pt x="3077222" y="582663"/>
                </a:lnTo>
                <a:lnTo>
                  <a:pt x="3094748" y="582663"/>
                </a:lnTo>
                <a:lnTo>
                  <a:pt x="3101860" y="575551"/>
                </a:lnTo>
                <a:lnTo>
                  <a:pt x="3101860" y="566788"/>
                </a:lnTo>
                <a:lnTo>
                  <a:pt x="3101860" y="558012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29">
            <a:extLst>
              <a:ext uri="{FF2B5EF4-FFF2-40B4-BE49-F238E27FC236}">
                <a16:creationId xmlns:a16="http://schemas.microsoft.com/office/drawing/2014/main" id="{F95C13CC-BD44-0014-829C-B0F7C4900266}"/>
              </a:ext>
            </a:extLst>
          </p:cNvPr>
          <p:cNvSpPr txBox="1"/>
          <p:nvPr/>
        </p:nvSpPr>
        <p:spPr>
          <a:xfrm>
            <a:off x="7185793" y="220656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1" name="object 28">
            <a:extLst>
              <a:ext uri="{FF2B5EF4-FFF2-40B4-BE49-F238E27FC236}">
                <a16:creationId xmlns:a16="http://schemas.microsoft.com/office/drawing/2014/main" id="{B8597FD4-900A-D021-9142-C6AA6A041EFB}"/>
              </a:ext>
            </a:extLst>
          </p:cNvPr>
          <p:cNvSpPr txBox="1"/>
          <p:nvPr/>
        </p:nvSpPr>
        <p:spPr>
          <a:xfrm>
            <a:off x="6592218" y="1624076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9866376" cy="658368"/>
          </a:xfrm>
          <a:prstGeom prst="rect">
            <a:avLst/>
          </a:prstGeom>
          <a:solidFill>
            <a:srgbClr val="1E354D"/>
          </a:solidFill>
          <a:ln>
            <a:solidFill>
              <a:srgbClr val="1E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93192"/>
            <a:ext cx="95554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CARD 09 — ASPIRIN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94944"/>
            <a:ext cx="941832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Molecular Formula: C₉H₈O₄     |     IUPAC name: 2-(Acetyloxy)benzoic acid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70432"/>
            <a:ext cx="4864608" cy="2240280"/>
          </a:xfrm>
          <a:prstGeom prst="rect">
            <a:avLst/>
          </a:prstGeom>
          <a:solidFill>
            <a:srgbClr val="E2EBF4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1. MOLECULAR FORMULA / IDENTITY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8970" y="1932191"/>
            <a:ext cx="1989627" cy="68018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4000" b="1" dirty="0">
                <a:solidFill>
                  <a:srgbClr val="1E354D"/>
                </a:solidFill>
                <a:latin typeface="Aptos"/>
              </a:rPr>
              <a:t>C₉H₈O₄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2550" y="1164513"/>
            <a:ext cx="4864608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486400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2. LEWIS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566160"/>
            <a:ext cx="4864608" cy="2395728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3. CONDENSED STRUCTURAL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433096"/>
            <a:ext cx="6018824" cy="4955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lang="pt-BR" sz="2800" b="1" dirty="0">
                <a:solidFill>
                  <a:srgbClr val="1E354D"/>
                </a:solidFill>
                <a:latin typeface="Aptos"/>
              </a:rPr>
              <a:t>CH</a:t>
            </a:r>
            <a:r>
              <a:rPr lang="en-PH" sz="2800" b="1" dirty="0">
                <a:solidFill>
                  <a:srgbClr val="1E354D"/>
                </a:solidFill>
                <a:latin typeface="Aptos"/>
              </a:rPr>
              <a:t>₃</a:t>
            </a:r>
            <a:r>
              <a:rPr lang="pt-BR" sz="2800" b="1" dirty="0">
                <a:solidFill>
                  <a:srgbClr val="1E354D"/>
                </a:solidFill>
                <a:latin typeface="Aptos"/>
              </a:rPr>
              <a:t>C(=O)O–C</a:t>
            </a:r>
            <a:r>
              <a:rPr lang="en-PH" sz="2800" b="1" dirty="0">
                <a:solidFill>
                  <a:srgbClr val="1E354D"/>
                </a:solidFill>
                <a:latin typeface="Aptos"/>
              </a:rPr>
              <a:t>₆</a:t>
            </a:r>
            <a:r>
              <a:rPr lang="pt-BR" sz="2800" b="1" dirty="0">
                <a:solidFill>
                  <a:srgbClr val="1E354D"/>
                </a:solidFill>
                <a:latin typeface="Aptos"/>
              </a:rPr>
              <a:t>H</a:t>
            </a:r>
            <a:r>
              <a:rPr lang="en-PH" sz="2800" b="1" dirty="0">
                <a:solidFill>
                  <a:srgbClr val="1E354D"/>
                </a:solidFill>
                <a:latin typeface="Aptos"/>
              </a:rPr>
              <a:t>₄</a:t>
            </a:r>
            <a:r>
              <a:rPr lang="pt-BR" sz="2800" b="1" dirty="0">
                <a:solidFill>
                  <a:srgbClr val="1E354D"/>
                </a:solidFill>
                <a:latin typeface="Aptos"/>
              </a:rPr>
              <a:t>–C(=O)OH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3248" y="3566160"/>
            <a:ext cx="4864608" cy="2395728"/>
          </a:xfrm>
          <a:prstGeom prst="rect">
            <a:avLst/>
          </a:prstGeom>
          <a:solidFill>
            <a:srgbClr val="FFEED6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4. BOND-LINE FORMULA (KETCHER)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108192"/>
            <a:ext cx="9866376" cy="685800"/>
          </a:xfrm>
          <a:prstGeom prst="rect">
            <a:avLst/>
          </a:prstGeom>
          <a:solidFill>
            <a:srgbClr val="DEF1E2"/>
          </a:solidFill>
          <a:ln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190488"/>
            <a:ext cx="95554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1">
                <a:solidFill>
                  <a:srgbClr val="1E354D"/>
                </a:solidFill>
                <a:latin typeface="Aptos"/>
              </a:rPr>
              <a:t>VERIFICATION STRIP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955548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0">
                <a:solidFill>
                  <a:srgbClr val="1E354D"/>
                </a:solidFill>
                <a:latin typeface="Aptos"/>
              </a:rPr>
              <a:t>☐ atom count verified     ☐ valence checked     ☐ bond order checked     ☐ same connectivity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7022592"/>
            <a:ext cx="9866376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800" b="0">
                <a:solidFill>
                  <a:srgbClr val="64707C"/>
                </a:solidFill>
                <a:latin typeface="Aptos"/>
              </a:rPr>
              <a:t>CHEM 13 | Organic Chemistry (Lecture) | Bicol University — College of Engineering | Department of Chemical Engineering</a:t>
            </a:r>
          </a:p>
        </p:txBody>
      </p:sp>
      <p:sp>
        <p:nvSpPr>
          <p:cNvPr id="21" name="object 25">
            <a:extLst>
              <a:ext uri="{FF2B5EF4-FFF2-40B4-BE49-F238E27FC236}">
                <a16:creationId xmlns:a16="http://schemas.microsoft.com/office/drawing/2014/main" id="{179AE0F5-8B05-F49F-05EF-EFDE118096B7}"/>
              </a:ext>
            </a:extLst>
          </p:cNvPr>
          <p:cNvSpPr/>
          <p:nvPr/>
        </p:nvSpPr>
        <p:spPr>
          <a:xfrm>
            <a:off x="6549143" y="1372871"/>
            <a:ext cx="2270264" cy="1745460"/>
          </a:xfrm>
          <a:custGeom>
            <a:avLst/>
            <a:gdLst>
              <a:gd name="csX0" fmla="*/ 2158368 w 2270263"/>
              <a:gd name="csY0" fmla="*/ 64602 h 1745460"/>
              <a:gd name="csX1" fmla="*/ 2270263 w 2270263"/>
              <a:gd name="csY1" fmla="*/ 0 h 17454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270263" h="1745460">
                <a:moveTo>
                  <a:pt x="1352831" y="1008411"/>
                </a:moveTo>
                <a:lnTo>
                  <a:pt x="1352831" y="1235840"/>
                </a:lnTo>
              </a:path>
              <a:path w="2270263" h="1745460">
                <a:moveTo>
                  <a:pt x="1406171" y="1008411"/>
                </a:moveTo>
                <a:lnTo>
                  <a:pt x="1406171" y="1235840"/>
                </a:lnTo>
              </a:path>
              <a:path w="2270263" h="1745460">
                <a:moveTo>
                  <a:pt x="1456491" y="1369190"/>
                </a:moveTo>
                <a:lnTo>
                  <a:pt x="1653451" y="1482905"/>
                </a:lnTo>
              </a:path>
              <a:path w="2270263" h="1745460">
                <a:moveTo>
                  <a:pt x="1820764" y="1506001"/>
                </a:moveTo>
                <a:lnTo>
                  <a:pt x="2017725" y="1392287"/>
                </a:lnTo>
              </a:path>
              <a:path w="2270263" h="1745460">
                <a:moveTo>
                  <a:pt x="1794094" y="1459807"/>
                </a:moveTo>
                <a:lnTo>
                  <a:pt x="1991055" y="1346093"/>
                </a:lnTo>
              </a:path>
              <a:path w="2270263" h="1745460">
                <a:moveTo>
                  <a:pt x="2081378" y="1235840"/>
                </a:moveTo>
                <a:lnTo>
                  <a:pt x="2081378" y="1008411"/>
                </a:lnTo>
              </a:path>
              <a:path w="2270263" h="1745460">
                <a:moveTo>
                  <a:pt x="2017725" y="851964"/>
                </a:moveTo>
                <a:lnTo>
                  <a:pt x="1820764" y="738249"/>
                </a:lnTo>
              </a:path>
              <a:path w="2270263" h="1745460">
                <a:moveTo>
                  <a:pt x="1991055" y="898157"/>
                </a:moveTo>
                <a:lnTo>
                  <a:pt x="1794094" y="784443"/>
                </a:lnTo>
              </a:path>
              <a:path w="2270263" h="1745460">
                <a:moveTo>
                  <a:pt x="1653451" y="761345"/>
                </a:moveTo>
                <a:lnTo>
                  <a:pt x="1456491" y="875061"/>
                </a:lnTo>
              </a:path>
              <a:path w="2270263" h="1745460">
                <a:moveTo>
                  <a:pt x="1302512" y="875061"/>
                </a:moveTo>
                <a:lnTo>
                  <a:pt x="1105552" y="761345"/>
                </a:lnTo>
              </a:path>
              <a:path w="2270263" h="1745460">
                <a:moveTo>
                  <a:pt x="650003" y="627995"/>
                </a:moveTo>
                <a:lnTo>
                  <a:pt x="650003" y="400566"/>
                </a:lnTo>
              </a:path>
              <a:path w="2270263" h="1745460">
                <a:moveTo>
                  <a:pt x="596663" y="627995"/>
                </a:moveTo>
                <a:lnTo>
                  <a:pt x="596663" y="400566"/>
                </a:lnTo>
              </a:path>
              <a:path w="2270263" h="1745460">
                <a:moveTo>
                  <a:pt x="1730441" y="627995"/>
                </a:moveTo>
                <a:lnTo>
                  <a:pt x="1730441" y="400566"/>
                </a:lnTo>
              </a:path>
              <a:path w="2270263" h="1745460">
                <a:moveTo>
                  <a:pt x="1666786" y="244120"/>
                </a:moveTo>
                <a:lnTo>
                  <a:pt x="1469826" y="130406"/>
                </a:lnTo>
              </a:path>
              <a:path w="2270263" h="1745460">
                <a:moveTo>
                  <a:pt x="1640116" y="290314"/>
                </a:moveTo>
                <a:lnTo>
                  <a:pt x="1443156" y="176599"/>
                </a:lnTo>
              </a:path>
              <a:path w="2270263" h="1745460">
                <a:moveTo>
                  <a:pt x="1807429" y="267216"/>
                </a:moveTo>
                <a:lnTo>
                  <a:pt x="2004390" y="153502"/>
                </a:lnTo>
              </a:path>
              <a:path w="2270263" h="1745460">
                <a:moveTo>
                  <a:pt x="1302512" y="1369190"/>
                </a:moveTo>
                <a:lnTo>
                  <a:pt x="1190617" y="1433793"/>
                </a:lnTo>
              </a:path>
              <a:path w="2270263" h="1745460">
                <a:moveTo>
                  <a:pt x="1730441" y="1616255"/>
                </a:moveTo>
                <a:lnTo>
                  <a:pt x="1730441" y="1745460"/>
                </a:lnTo>
              </a:path>
              <a:path w="2270263" h="1745460">
                <a:moveTo>
                  <a:pt x="2158368" y="1369190"/>
                </a:moveTo>
                <a:lnTo>
                  <a:pt x="2270263" y="1433793"/>
                </a:lnTo>
              </a:path>
              <a:path w="2270263" h="1745460">
                <a:moveTo>
                  <a:pt x="2158368" y="875061"/>
                </a:moveTo>
                <a:lnTo>
                  <a:pt x="2270263" y="810458"/>
                </a:lnTo>
              </a:path>
              <a:path w="2270263" h="1745460">
                <a:moveTo>
                  <a:pt x="129204" y="716895"/>
                </a:moveTo>
                <a:lnTo>
                  <a:pt x="0" y="716895"/>
                </a:lnTo>
              </a:path>
              <a:path w="2270263" h="1745460">
                <a:moveTo>
                  <a:pt x="218104" y="805795"/>
                </a:moveTo>
                <a:lnTo>
                  <a:pt x="218104" y="935001"/>
                </a:lnTo>
              </a:path>
              <a:path w="2270263" h="1745460">
                <a:moveTo>
                  <a:pt x="218104" y="627995"/>
                </a:moveTo>
                <a:lnTo>
                  <a:pt x="218104" y="498791"/>
                </a:lnTo>
              </a:path>
              <a:path w="2270263" h="1745460">
                <a:moveTo>
                  <a:pt x="2158368" y="64602"/>
                </a:moveTo>
                <a:lnTo>
                  <a:pt x="2270263" y="0"/>
                </a:lnTo>
              </a:path>
            </a:pathLst>
          </a:cu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BCC60106-451D-C202-F977-225E00572DF5}"/>
              </a:ext>
            </a:extLst>
          </p:cNvPr>
          <p:cNvSpPr txBox="1"/>
          <p:nvPr/>
        </p:nvSpPr>
        <p:spPr>
          <a:xfrm>
            <a:off x="8219001" y="281978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7D49D988-5B63-5CF8-B30E-77BD37DA6BAB}"/>
              </a:ext>
            </a:extLst>
          </p:cNvPr>
          <p:cNvSpPr txBox="1"/>
          <p:nvPr/>
        </p:nvSpPr>
        <p:spPr>
          <a:xfrm>
            <a:off x="7861151" y="218051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0" name="object 26">
            <a:extLst>
              <a:ext uri="{FF2B5EF4-FFF2-40B4-BE49-F238E27FC236}">
                <a16:creationId xmlns:a16="http://schemas.microsoft.com/office/drawing/2014/main" id="{6F97B47E-6B1D-69DE-A293-39C93787C2BC}"/>
              </a:ext>
            </a:extLst>
          </p:cNvPr>
          <p:cNvSpPr txBox="1"/>
          <p:nvPr/>
        </p:nvSpPr>
        <p:spPr>
          <a:xfrm>
            <a:off x="7881697" y="259681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4" name="object 26">
            <a:extLst>
              <a:ext uri="{FF2B5EF4-FFF2-40B4-BE49-F238E27FC236}">
                <a16:creationId xmlns:a16="http://schemas.microsoft.com/office/drawing/2014/main" id="{ABDD6ED9-DACC-33FC-6D34-CB7E1D356390}"/>
              </a:ext>
            </a:extLst>
          </p:cNvPr>
          <p:cNvSpPr txBox="1"/>
          <p:nvPr/>
        </p:nvSpPr>
        <p:spPr>
          <a:xfrm>
            <a:off x="6713072" y="197753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6" name="object 26">
            <a:extLst>
              <a:ext uri="{FF2B5EF4-FFF2-40B4-BE49-F238E27FC236}">
                <a16:creationId xmlns:a16="http://schemas.microsoft.com/office/drawing/2014/main" id="{280AFB5F-E437-A0ED-B5C1-BE93BA706B00}"/>
              </a:ext>
            </a:extLst>
          </p:cNvPr>
          <p:cNvSpPr txBox="1"/>
          <p:nvPr/>
        </p:nvSpPr>
        <p:spPr>
          <a:xfrm>
            <a:off x="8590127" y="218581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8" name="object 26">
            <a:extLst>
              <a:ext uri="{FF2B5EF4-FFF2-40B4-BE49-F238E27FC236}">
                <a16:creationId xmlns:a16="http://schemas.microsoft.com/office/drawing/2014/main" id="{2C4B657E-3D84-B4CA-1AB8-EF68780B31D9}"/>
              </a:ext>
            </a:extLst>
          </p:cNvPr>
          <p:cNvSpPr txBox="1"/>
          <p:nvPr/>
        </p:nvSpPr>
        <p:spPr>
          <a:xfrm>
            <a:off x="8572453" y="2612377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0" name="object 26">
            <a:extLst>
              <a:ext uri="{FF2B5EF4-FFF2-40B4-BE49-F238E27FC236}">
                <a16:creationId xmlns:a16="http://schemas.microsoft.com/office/drawing/2014/main" id="{6AC907C5-1628-D601-9D9F-43B225A9C863}"/>
              </a:ext>
            </a:extLst>
          </p:cNvPr>
          <p:cNvSpPr txBox="1"/>
          <p:nvPr/>
        </p:nvSpPr>
        <p:spPr>
          <a:xfrm>
            <a:off x="8217164" y="201714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2" name="object 26">
            <a:extLst>
              <a:ext uri="{FF2B5EF4-FFF2-40B4-BE49-F238E27FC236}">
                <a16:creationId xmlns:a16="http://schemas.microsoft.com/office/drawing/2014/main" id="{F1B312ED-F127-9360-7B0B-1E98767C080C}"/>
              </a:ext>
            </a:extLst>
          </p:cNvPr>
          <p:cNvSpPr txBox="1"/>
          <p:nvPr/>
        </p:nvSpPr>
        <p:spPr>
          <a:xfrm>
            <a:off x="8240678" y="159664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4" name="object 34">
            <a:extLst>
              <a:ext uri="{FF2B5EF4-FFF2-40B4-BE49-F238E27FC236}">
                <a16:creationId xmlns:a16="http://schemas.microsoft.com/office/drawing/2014/main" id="{BC8CBBAF-F60B-867D-5F85-8B80BCD8E7BB}"/>
              </a:ext>
            </a:extLst>
          </p:cNvPr>
          <p:cNvSpPr txBox="1"/>
          <p:nvPr/>
        </p:nvSpPr>
        <p:spPr>
          <a:xfrm>
            <a:off x="8613374" y="1388365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6" name="object 34">
            <a:extLst>
              <a:ext uri="{FF2B5EF4-FFF2-40B4-BE49-F238E27FC236}">
                <a16:creationId xmlns:a16="http://schemas.microsoft.com/office/drawing/2014/main" id="{4E0E8994-FEC1-999E-769E-94FCE0A7B7F0}"/>
              </a:ext>
            </a:extLst>
          </p:cNvPr>
          <p:cNvSpPr txBox="1"/>
          <p:nvPr/>
        </p:nvSpPr>
        <p:spPr>
          <a:xfrm>
            <a:off x="7519302" y="1991240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8" name="object 26">
            <a:extLst>
              <a:ext uri="{FF2B5EF4-FFF2-40B4-BE49-F238E27FC236}">
                <a16:creationId xmlns:a16="http://schemas.microsoft.com/office/drawing/2014/main" id="{45E83A3E-284B-50BC-CBD5-8B9DDE2EC563}"/>
              </a:ext>
            </a:extLst>
          </p:cNvPr>
          <p:cNvSpPr txBox="1"/>
          <p:nvPr/>
        </p:nvSpPr>
        <p:spPr>
          <a:xfrm>
            <a:off x="7134248" y="199123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0" name="object 37">
            <a:extLst>
              <a:ext uri="{FF2B5EF4-FFF2-40B4-BE49-F238E27FC236}">
                <a16:creationId xmlns:a16="http://schemas.microsoft.com/office/drawing/2014/main" id="{882D564B-8DA3-5235-13CB-9DF440086A25}"/>
              </a:ext>
            </a:extLst>
          </p:cNvPr>
          <p:cNvSpPr txBox="1"/>
          <p:nvPr/>
        </p:nvSpPr>
        <p:spPr>
          <a:xfrm>
            <a:off x="8883056" y="275029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2" name="object 37">
            <a:extLst>
              <a:ext uri="{FF2B5EF4-FFF2-40B4-BE49-F238E27FC236}">
                <a16:creationId xmlns:a16="http://schemas.microsoft.com/office/drawing/2014/main" id="{0159563F-2C85-5B3C-0281-2F4F40E7B23C}"/>
              </a:ext>
            </a:extLst>
          </p:cNvPr>
          <p:cNvSpPr txBox="1"/>
          <p:nvPr/>
        </p:nvSpPr>
        <p:spPr>
          <a:xfrm>
            <a:off x="8217163" y="311848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4" name="object 37">
            <a:extLst>
              <a:ext uri="{FF2B5EF4-FFF2-40B4-BE49-F238E27FC236}">
                <a16:creationId xmlns:a16="http://schemas.microsoft.com/office/drawing/2014/main" id="{713D214D-06AA-9772-A537-A1E373E2840E}"/>
              </a:ext>
            </a:extLst>
          </p:cNvPr>
          <p:cNvSpPr txBox="1"/>
          <p:nvPr/>
        </p:nvSpPr>
        <p:spPr>
          <a:xfrm>
            <a:off x="6713071" y="165424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6" name="object 37">
            <a:extLst>
              <a:ext uri="{FF2B5EF4-FFF2-40B4-BE49-F238E27FC236}">
                <a16:creationId xmlns:a16="http://schemas.microsoft.com/office/drawing/2014/main" id="{D1542D2D-B260-C8C0-3507-62C481F5830C}"/>
              </a:ext>
            </a:extLst>
          </p:cNvPr>
          <p:cNvSpPr txBox="1"/>
          <p:nvPr/>
        </p:nvSpPr>
        <p:spPr>
          <a:xfrm>
            <a:off x="6362801" y="201714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8" name="object 37">
            <a:extLst>
              <a:ext uri="{FF2B5EF4-FFF2-40B4-BE49-F238E27FC236}">
                <a16:creationId xmlns:a16="http://schemas.microsoft.com/office/drawing/2014/main" id="{C020E1DF-2067-AC48-8A3F-2C945429BE94}"/>
              </a:ext>
            </a:extLst>
          </p:cNvPr>
          <p:cNvSpPr txBox="1"/>
          <p:nvPr/>
        </p:nvSpPr>
        <p:spPr>
          <a:xfrm>
            <a:off x="6713072" y="2351024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0" name="object 37">
            <a:extLst>
              <a:ext uri="{FF2B5EF4-FFF2-40B4-BE49-F238E27FC236}">
                <a16:creationId xmlns:a16="http://schemas.microsoft.com/office/drawing/2014/main" id="{C0A76824-999F-3BC1-D63D-30AC6CDD493E}"/>
              </a:ext>
            </a:extLst>
          </p:cNvPr>
          <p:cNvSpPr txBox="1"/>
          <p:nvPr/>
        </p:nvSpPr>
        <p:spPr>
          <a:xfrm>
            <a:off x="7638514" y="281978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2" name="object 37">
            <a:extLst>
              <a:ext uri="{FF2B5EF4-FFF2-40B4-BE49-F238E27FC236}">
                <a16:creationId xmlns:a16="http://schemas.microsoft.com/office/drawing/2014/main" id="{235094DF-E6F5-4E42-B5D5-63175CEB0AC3}"/>
              </a:ext>
            </a:extLst>
          </p:cNvPr>
          <p:cNvSpPr txBox="1"/>
          <p:nvPr/>
        </p:nvSpPr>
        <p:spPr>
          <a:xfrm>
            <a:off x="8874894" y="206649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4" name="object 37">
            <a:extLst>
              <a:ext uri="{FF2B5EF4-FFF2-40B4-BE49-F238E27FC236}">
                <a16:creationId xmlns:a16="http://schemas.microsoft.com/office/drawing/2014/main" id="{CDB0F64C-5A8C-805C-C2CC-CBCF25DE93DE}"/>
              </a:ext>
            </a:extLst>
          </p:cNvPr>
          <p:cNvSpPr txBox="1"/>
          <p:nvPr/>
        </p:nvSpPr>
        <p:spPr>
          <a:xfrm>
            <a:off x="8831942" y="127663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6" name="object 34">
            <a:extLst>
              <a:ext uri="{FF2B5EF4-FFF2-40B4-BE49-F238E27FC236}">
                <a16:creationId xmlns:a16="http://schemas.microsoft.com/office/drawing/2014/main" id="{592D1698-EB8B-B1C4-825F-D0478803ADEF}"/>
              </a:ext>
            </a:extLst>
          </p:cNvPr>
          <p:cNvSpPr txBox="1"/>
          <p:nvPr/>
        </p:nvSpPr>
        <p:spPr>
          <a:xfrm>
            <a:off x="7858299" y="1400240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8" name="object 34">
            <a:extLst>
              <a:ext uri="{FF2B5EF4-FFF2-40B4-BE49-F238E27FC236}">
                <a16:creationId xmlns:a16="http://schemas.microsoft.com/office/drawing/2014/main" id="{6E1AE141-8162-1F83-6FEF-958B02BCD500}"/>
              </a:ext>
            </a:extLst>
          </p:cNvPr>
          <p:cNvSpPr txBox="1"/>
          <p:nvPr/>
        </p:nvSpPr>
        <p:spPr>
          <a:xfrm>
            <a:off x="7128164" y="1612901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 dirty="0">
              <a:latin typeface="Arial"/>
              <a:cs typeface="Arial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B6A4453-4BBA-AFAB-A903-ACD5F2799E2D}"/>
              </a:ext>
            </a:extLst>
          </p:cNvPr>
          <p:cNvCxnSpPr>
            <a:cxnSpLocks/>
          </p:cNvCxnSpPr>
          <p:nvPr/>
        </p:nvCxnSpPr>
        <p:spPr>
          <a:xfrm>
            <a:off x="6853928" y="2085705"/>
            <a:ext cx="2224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76C07C7-1597-495D-7B30-9B21A74717D6}"/>
              </a:ext>
            </a:extLst>
          </p:cNvPr>
          <p:cNvCxnSpPr>
            <a:cxnSpLocks/>
          </p:cNvCxnSpPr>
          <p:nvPr/>
        </p:nvCxnSpPr>
        <p:spPr>
          <a:xfrm>
            <a:off x="7259609" y="2081672"/>
            <a:ext cx="204206" cy="40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80">
            <a:extLst>
              <a:ext uri="{FF2B5EF4-FFF2-40B4-BE49-F238E27FC236}">
                <a16:creationId xmlns:a16="http://schemas.microsoft.com/office/drawing/2014/main" id="{24481C85-3E1A-BCC6-2DD7-3D034E5E9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178" y="4020503"/>
            <a:ext cx="1800225" cy="1457325"/>
          </a:xfrm>
          <a:prstGeom prst="rect">
            <a:avLst/>
          </a:prstGeom>
        </p:spPr>
      </p:pic>
      <p:sp>
        <p:nvSpPr>
          <p:cNvPr id="83" name="object 42">
            <a:extLst>
              <a:ext uri="{FF2B5EF4-FFF2-40B4-BE49-F238E27FC236}">
                <a16:creationId xmlns:a16="http://schemas.microsoft.com/office/drawing/2014/main" id="{D95E2228-FE98-8690-9644-41B64F440D47}"/>
              </a:ext>
            </a:extLst>
          </p:cNvPr>
          <p:cNvSpPr/>
          <p:nvPr/>
        </p:nvSpPr>
        <p:spPr>
          <a:xfrm>
            <a:off x="7064674" y="1400240"/>
            <a:ext cx="1694814" cy="844601"/>
          </a:xfrm>
          <a:custGeom>
            <a:avLst/>
            <a:gdLst/>
            <a:ahLst/>
            <a:cxnLst/>
            <a:rect l="l" t="t" r="r" b="b"/>
            <a:pathLst>
              <a:path w="1694815" h="882650">
                <a:moveTo>
                  <a:pt x="31750" y="295808"/>
                </a:moveTo>
                <a:lnTo>
                  <a:pt x="24638" y="288696"/>
                </a:lnTo>
                <a:lnTo>
                  <a:pt x="7099" y="288696"/>
                </a:lnTo>
                <a:lnTo>
                  <a:pt x="0" y="295808"/>
                </a:lnTo>
                <a:lnTo>
                  <a:pt x="0" y="313334"/>
                </a:lnTo>
                <a:lnTo>
                  <a:pt x="7099" y="320446"/>
                </a:lnTo>
                <a:lnTo>
                  <a:pt x="24638" y="320446"/>
                </a:lnTo>
                <a:lnTo>
                  <a:pt x="31750" y="313334"/>
                </a:lnTo>
                <a:lnTo>
                  <a:pt x="31750" y="304571"/>
                </a:lnTo>
                <a:lnTo>
                  <a:pt x="31750" y="295808"/>
                </a:lnTo>
                <a:close/>
              </a:path>
              <a:path w="1694815" h="882650">
                <a:moveTo>
                  <a:pt x="62230" y="243014"/>
                </a:moveTo>
                <a:lnTo>
                  <a:pt x="55118" y="235902"/>
                </a:lnTo>
                <a:lnTo>
                  <a:pt x="37579" y="235902"/>
                </a:lnTo>
                <a:lnTo>
                  <a:pt x="30480" y="243014"/>
                </a:lnTo>
                <a:lnTo>
                  <a:pt x="30480" y="260540"/>
                </a:lnTo>
                <a:lnTo>
                  <a:pt x="37579" y="267652"/>
                </a:lnTo>
                <a:lnTo>
                  <a:pt x="55118" y="267652"/>
                </a:lnTo>
                <a:lnTo>
                  <a:pt x="62230" y="260540"/>
                </a:lnTo>
                <a:lnTo>
                  <a:pt x="62230" y="251777"/>
                </a:lnTo>
                <a:lnTo>
                  <a:pt x="62230" y="243014"/>
                </a:lnTo>
                <a:close/>
              </a:path>
              <a:path w="1694815" h="882650">
                <a:moveTo>
                  <a:pt x="238518" y="243014"/>
                </a:moveTo>
                <a:lnTo>
                  <a:pt x="231406" y="235902"/>
                </a:lnTo>
                <a:lnTo>
                  <a:pt x="213880" y="235902"/>
                </a:lnTo>
                <a:lnTo>
                  <a:pt x="206768" y="243014"/>
                </a:lnTo>
                <a:lnTo>
                  <a:pt x="206768" y="260540"/>
                </a:lnTo>
                <a:lnTo>
                  <a:pt x="213880" y="267652"/>
                </a:lnTo>
                <a:lnTo>
                  <a:pt x="231406" y="267652"/>
                </a:lnTo>
                <a:lnTo>
                  <a:pt x="238518" y="260540"/>
                </a:lnTo>
                <a:lnTo>
                  <a:pt x="238518" y="251777"/>
                </a:lnTo>
                <a:lnTo>
                  <a:pt x="238518" y="243014"/>
                </a:lnTo>
                <a:close/>
              </a:path>
              <a:path w="1694815" h="882650">
                <a:moveTo>
                  <a:pt x="268998" y="295808"/>
                </a:moveTo>
                <a:lnTo>
                  <a:pt x="261886" y="288696"/>
                </a:lnTo>
                <a:lnTo>
                  <a:pt x="244360" y="288696"/>
                </a:lnTo>
                <a:lnTo>
                  <a:pt x="237248" y="295808"/>
                </a:lnTo>
                <a:lnTo>
                  <a:pt x="237248" y="313334"/>
                </a:lnTo>
                <a:lnTo>
                  <a:pt x="244360" y="320446"/>
                </a:lnTo>
                <a:lnTo>
                  <a:pt x="261886" y="320446"/>
                </a:lnTo>
                <a:lnTo>
                  <a:pt x="268998" y="313334"/>
                </a:lnTo>
                <a:lnTo>
                  <a:pt x="268998" y="304571"/>
                </a:lnTo>
                <a:lnTo>
                  <a:pt x="268998" y="295808"/>
                </a:lnTo>
                <a:close/>
              </a:path>
              <a:path w="1694815" h="882650">
                <a:moveTo>
                  <a:pt x="495261" y="841756"/>
                </a:moveTo>
                <a:lnTo>
                  <a:pt x="488149" y="834644"/>
                </a:lnTo>
                <a:lnTo>
                  <a:pt x="470623" y="834644"/>
                </a:lnTo>
                <a:lnTo>
                  <a:pt x="463511" y="841756"/>
                </a:lnTo>
                <a:lnTo>
                  <a:pt x="463511" y="859282"/>
                </a:lnTo>
                <a:lnTo>
                  <a:pt x="470623" y="866394"/>
                </a:lnTo>
                <a:lnTo>
                  <a:pt x="488149" y="866394"/>
                </a:lnTo>
                <a:lnTo>
                  <a:pt x="495261" y="859282"/>
                </a:lnTo>
                <a:lnTo>
                  <a:pt x="495261" y="850519"/>
                </a:lnTo>
                <a:lnTo>
                  <a:pt x="495261" y="841756"/>
                </a:lnTo>
                <a:close/>
              </a:path>
              <a:path w="1694815" h="882650">
                <a:moveTo>
                  <a:pt x="554139" y="857529"/>
                </a:moveTo>
                <a:lnTo>
                  <a:pt x="547039" y="850417"/>
                </a:lnTo>
                <a:lnTo>
                  <a:pt x="529501" y="850417"/>
                </a:lnTo>
                <a:lnTo>
                  <a:pt x="522389" y="857529"/>
                </a:lnTo>
                <a:lnTo>
                  <a:pt x="522389" y="875068"/>
                </a:lnTo>
                <a:lnTo>
                  <a:pt x="529501" y="882167"/>
                </a:lnTo>
                <a:lnTo>
                  <a:pt x="547039" y="882167"/>
                </a:lnTo>
                <a:lnTo>
                  <a:pt x="554139" y="875068"/>
                </a:lnTo>
                <a:lnTo>
                  <a:pt x="554139" y="866292"/>
                </a:lnTo>
                <a:lnTo>
                  <a:pt x="554139" y="857529"/>
                </a:lnTo>
                <a:close/>
              </a:path>
              <a:path w="1694815" h="882650">
                <a:moveTo>
                  <a:pt x="557060" y="611124"/>
                </a:moveTo>
                <a:lnTo>
                  <a:pt x="549948" y="604024"/>
                </a:lnTo>
                <a:lnTo>
                  <a:pt x="532409" y="604024"/>
                </a:lnTo>
                <a:lnTo>
                  <a:pt x="525310" y="611124"/>
                </a:lnTo>
                <a:lnTo>
                  <a:pt x="525310" y="628662"/>
                </a:lnTo>
                <a:lnTo>
                  <a:pt x="532409" y="635774"/>
                </a:lnTo>
                <a:lnTo>
                  <a:pt x="549948" y="635774"/>
                </a:lnTo>
                <a:lnTo>
                  <a:pt x="557060" y="628662"/>
                </a:lnTo>
                <a:lnTo>
                  <a:pt x="557060" y="619899"/>
                </a:lnTo>
                <a:lnTo>
                  <a:pt x="557060" y="611124"/>
                </a:lnTo>
                <a:close/>
              </a:path>
              <a:path w="1694815" h="882650">
                <a:moveTo>
                  <a:pt x="615937" y="626910"/>
                </a:moveTo>
                <a:lnTo>
                  <a:pt x="608838" y="619798"/>
                </a:lnTo>
                <a:lnTo>
                  <a:pt x="591299" y="619798"/>
                </a:lnTo>
                <a:lnTo>
                  <a:pt x="584187" y="626910"/>
                </a:lnTo>
                <a:lnTo>
                  <a:pt x="584187" y="644436"/>
                </a:lnTo>
                <a:lnTo>
                  <a:pt x="591299" y="651548"/>
                </a:lnTo>
                <a:lnTo>
                  <a:pt x="608838" y="651548"/>
                </a:lnTo>
                <a:lnTo>
                  <a:pt x="615937" y="644436"/>
                </a:lnTo>
                <a:lnTo>
                  <a:pt x="615937" y="635673"/>
                </a:lnTo>
                <a:lnTo>
                  <a:pt x="615937" y="626910"/>
                </a:lnTo>
                <a:close/>
              </a:path>
              <a:path w="1694815" h="882650">
                <a:moveTo>
                  <a:pt x="787920" y="159778"/>
                </a:moveTo>
                <a:lnTo>
                  <a:pt x="780808" y="152666"/>
                </a:lnTo>
                <a:lnTo>
                  <a:pt x="763270" y="152666"/>
                </a:lnTo>
                <a:lnTo>
                  <a:pt x="756170" y="159778"/>
                </a:lnTo>
                <a:lnTo>
                  <a:pt x="756170" y="177317"/>
                </a:lnTo>
                <a:lnTo>
                  <a:pt x="763270" y="184416"/>
                </a:lnTo>
                <a:lnTo>
                  <a:pt x="780808" y="184416"/>
                </a:lnTo>
                <a:lnTo>
                  <a:pt x="787920" y="177317"/>
                </a:lnTo>
                <a:lnTo>
                  <a:pt x="787920" y="168541"/>
                </a:lnTo>
                <a:lnTo>
                  <a:pt x="787920" y="159778"/>
                </a:lnTo>
                <a:close/>
              </a:path>
              <a:path w="1694815" h="882650">
                <a:moveTo>
                  <a:pt x="818400" y="212572"/>
                </a:moveTo>
                <a:lnTo>
                  <a:pt x="811288" y="205460"/>
                </a:lnTo>
                <a:lnTo>
                  <a:pt x="793750" y="205460"/>
                </a:lnTo>
                <a:lnTo>
                  <a:pt x="786650" y="212572"/>
                </a:lnTo>
                <a:lnTo>
                  <a:pt x="786650" y="230098"/>
                </a:lnTo>
                <a:lnTo>
                  <a:pt x="793750" y="237210"/>
                </a:lnTo>
                <a:lnTo>
                  <a:pt x="811288" y="237210"/>
                </a:lnTo>
                <a:lnTo>
                  <a:pt x="818400" y="230098"/>
                </a:lnTo>
                <a:lnTo>
                  <a:pt x="818400" y="221335"/>
                </a:lnTo>
                <a:lnTo>
                  <a:pt x="818400" y="212572"/>
                </a:lnTo>
                <a:close/>
              </a:path>
              <a:path w="1694815" h="882650">
                <a:moveTo>
                  <a:pt x="876058" y="7099"/>
                </a:moveTo>
                <a:lnTo>
                  <a:pt x="868946" y="0"/>
                </a:lnTo>
                <a:lnTo>
                  <a:pt x="851420" y="0"/>
                </a:lnTo>
                <a:lnTo>
                  <a:pt x="844308" y="7099"/>
                </a:lnTo>
                <a:lnTo>
                  <a:pt x="844308" y="24638"/>
                </a:lnTo>
                <a:lnTo>
                  <a:pt x="851420" y="31750"/>
                </a:lnTo>
                <a:lnTo>
                  <a:pt x="868946" y="31750"/>
                </a:lnTo>
                <a:lnTo>
                  <a:pt x="876058" y="24638"/>
                </a:lnTo>
                <a:lnTo>
                  <a:pt x="876058" y="15875"/>
                </a:lnTo>
                <a:lnTo>
                  <a:pt x="876058" y="7099"/>
                </a:lnTo>
                <a:close/>
              </a:path>
              <a:path w="1694815" h="882650">
                <a:moveTo>
                  <a:pt x="937018" y="7099"/>
                </a:moveTo>
                <a:lnTo>
                  <a:pt x="929906" y="0"/>
                </a:lnTo>
                <a:lnTo>
                  <a:pt x="912380" y="0"/>
                </a:lnTo>
                <a:lnTo>
                  <a:pt x="905268" y="7099"/>
                </a:lnTo>
                <a:lnTo>
                  <a:pt x="905268" y="24638"/>
                </a:lnTo>
                <a:lnTo>
                  <a:pt x="912380" y="31750"/>
                </a:lnTo>
                <a:lnTo>
                  <a:pt x="929906" y="31750"/>
                </a:lnTo>
                <a:lnTo>
                  <a:pt x="937018" y="24638"/>
                </a:lnTo>
                <a:lnTo>
                  <a:pt x="937018" y="15875"/>
                </a:lnTo>
                <a:lnTo>
                  <a:pt x="937018" y="7099"/>
                </a:lnTo>
                <a:close/>
              </a:path>
              <a:path w="1694815" h="882650">
                <a:moveTo>
                  <a:pt x="1522336" y="38341"/>
                </a:moveTo>
                <a:lnTo>
                  <a:pt x="1515224" y="31229"/>
                </a:lnTo>
                <a:lnTo>
                  <a:pt x="1497685" y="31229"/>
                </a:lnTo>
                <a:lnTo>
                  <a:pt x="1490586" y="38341"/>
                </a:lnTo>
                <a:lnTo>
                  <a:pt x="1490586" y="55867"/>
                </a:lnTo>
                <a:lnTo>
                  <a:pt x="1497685" y="62979"/>
                </a:lnTo>
                <a:lnTo>
                  <a:pt x="1515224" y="62979"/>
                </a:lnTo>
                <a:lnTo>
                  <a:pt x="1522336" y="55867"/>
                </a:lnTo>
                <a:lnTo>
                  <a:pt x="1522336" y="47104"/>
                </a:lnTo>
                <a:lnTo>
                  <a:pt x="1522336" y="38341"/>
                </a:lnTo>
                <a:close/>
              </a:path>
              <a:path w="1694815" h="882650">
                <a:moveTo>
                  <a:pt x="1575130" y="7861"/>
                </a:moveTo>
                <a:lnTo>
                  <a:pt x="1568018" y="749"/>
                </a:lnTo>
                <a:lnTo>
                  <a:pt x="1550479" y="749"/>
                </a:lnTo>
                <a:lnTo>
                  <a:pt x="1543380" y="7861"/>
                </a:lnTo>
                <a:lnTo>
                  <a:pt x="1543380" y="25387"/>
                </a:lnTo>
                <a:lnTo>
                  <a:pt x="1550479" y="32499"/>
                </a:lnTo>
                <a:lnTo>
                  <a:pt x="1568018" y="32499"/>
                </a:lnTo>
                <a:lnTo>
                  <a:pt x="1575130" y="25387"/>
                </a:lnTo>
                <a:lnTo>
                  <a:pt x="1575130" y="16624"/>
                </a:lnTo>
                <a:lnTo>
                  <a:pt x="1575130" y="7861"/>
                </a:lnTo>
                <a:close/>
              </a:path>
              <a:path w="1694815" h="882650">
                <a:moveTo>
                  <a:pt x="1641716" y="245110"/>
                </a:moveTo>
                <a:lnTo>
                  <a:pt x="1634604" y="237998"/>
                </a:lnTo>
                <a:lnTo>
                  <a:pt x="1617065" y="237998"/>
                </a:lnTo>
                <a:lnTo>
                  <a:pt x="1609966" y="245110"/>
                </a:lnTo>
                <a:lnTo>
                  <a:pt x="1609966" y="262648"/>
                </a:lnTo>
                <a:lnTo>
                  <a:pt x="1617065" y="269748"/>
                </a:lnTo>
                <a:lnTo>
                  <a:pt x="1634604" y="269748"/>
                </a:lnTo>
                <a:lnTo>
                  <a:pt x="1641716" y="262648"/>
                </a:lnTo>
                <a:lnTo>
                  <a:pt x="1641716" y="253873"/>
                </a:lnTo>
                <a:lnTo>
                  <a:pt x="1641716" y="245110"/>
                </a:lnTo>
                <a:close/>
              </a:path>
              <a:path w="1694815" h="882650">
                <a:moveTo>
                  <a:pt x="1694510" y="214630"/>
                </a:moveTo>
                <a:lnTo>
                  <a:pt x="1687398" y="207518"/>
                </a:lnTo>
                <a:lnTo>
                  <a:pt x="1669859" y="207518"/>
                </a:lnTo>
                <a:lnTo>
                  <a:pt x="1662760" y="214630"/>
                </a:lnTo>
                <a:lnTo>
                  <a:pt x="1662760" y="232168"/>
                </a:lnTo>
                <a:lnTo>
                  <a:pt x="1669859" y="239268"/>
                </a:lnTo>
                <a:lnTo>
                  <a:pt x="1687398" y="239268"/>
                </a:lnTo>
                <a:lnTo>
                  <a:pt x="1694510" y="232168"/>
                </a:lnTo>
                <a:lnTo>
                  <a:pt x="1694510" y="223393"/>
                </a:lnTo>
                <a:lnTo>
                  <a:pt x="1694510" y="214630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45">
            <a:extLst>
              <a:ext uri="{FF2B5EF4-FFF2-40B4-BE49-F238E27FC236}">
                <a16:creationId xmlns:a16="http://schemas.microsoft.com/office/drawing/2014/main" id="{F4C121FA-4907-BFE3-333F-17E79573B172}"/>
              </a:ext>
            </a:extLst>
          </p:cNvPr>
          <p:cNvSpPr/>
          <p:nvPr/>
        </p:nvSpPr>
        <p:spPr>
          <a:xfrm>
            <a:off x="5054294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45">
            <a:extLst>
              <a:ext uri="{FF2B5EF4-FFF2-40B4-BE49-F238E27FC236}">
                <a16:creationId xmlns:a16="http://schemas.microsoft.com/office/drawing/2014/main" id="{47A78B9D-94D7-7C7A-B7BA-8895DA8AA564}"/>
              </a:ext>
            </a:extLst>
          </p:cNvPr>
          <p:cNvSpPr/>
          <p:nvPr/>
        </p:nvSpPr>
        <p:spPr>
          <a:xfrm>
            <a:off x="2569449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45">
            <a:extLst>
              <a:ext uri="{FF2B5EF4-FFF2-40B4-BE49-F238E27FC236}">
                <a16:creationId xmlns:a16="http://schemas.microsoft.com/office/drawing/2014/main" id="{4F9D0AB4-558E-6DF3-E09C-544BDD5744E9}"/>
              </a:ext>
            </a:extLst>
          </p:cNvPr>
          <p:cNvSpPr/>
          <p:nvPr/>
        </p:nvSpPr>
        <p:spPr>
          <a:xfrm>
            <a:off x="3869077" y="6506591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45">
            <a:extLst>
              <a:ext uri="{FF2B5EF4-FFF2-40B4-BE49-F238E27FC236}">
                <a16:creationId xmlns:a16="http://schemas.microsoft.com/office/drawing/2014/main" id="{F94BEF72-AACD-7EA4-6B46-8BD5F1E344A2}"/>
              </a:ext>
            </a:extLst>
          </p:cNvPr>
          <p:cNvSpPr/>
          <p:nvPr/>
        </p:nvSpPr>
        <p:spPr>
          <a:xfrm>
            <a:off x="6403769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9866376" cy="658368"/>
          </a:xfrm>
          <a:prstGeom prst="rect">
            <a:avLst/>
          </a:prstGeom>
          <a:solidFill>
            <a:srgbClr val="1E354D"/>
          </a:solidFill>
          <a:ln>
            <a:solidFill>
              <a:srgbClr val="1E35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93192"/>
            <a:ext cx="95554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CARD 10 — CAFFEINE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694944"/>
            <a:ext cx="941832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Molecular Formula: C₈H₁₀N₄O₂     |     IUPAC name: 1,3,7-trimethylpurine-2,6-dione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70432"/>
            <a:ext cx="4864608" cy="2240280"/>
          </a:xfrm>
          <a:prstGeom prst="rect">
            <a:avLst/>
          </a:prstGeom>
          <a:solidFill>
            <a:srgbClr val="E2EBF4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1. MOLECULAR FORMULA / IDENTITY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4336" y="1932191"/>
            <a:ext cx="3140695" cy="680186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4000" b="1" dirty="0">
                <a:solidFill>
                  <a:srgbClr val="1E354D"/>
                </a:solidFill>
                <a:latin typeface="Aptos"/>
              </a:rPr>
              <a:t>C₈H₁₀N₄O₂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3248" y="1178838"/>
            <a:ext cx="4864608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486400" y="1225296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2. LEWIS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566160"/>
            <a:ext cx="4864608" cy="2395728"/>
          </a:xfrm>
          <a:prstGeom prst="rect">
            <a:avLst/>
          </a:prstGeom>
          <a:solidFill>
            <a:srgbClr val="F8FAFC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3. CONDENSED STRUCTURAL FORMULA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3248" y="3566160"/>
            <a:ext cx="4864608" cy="2395728"/>
          </a:xfrm>
          <a:prstGeom prst="rect">
            <a:avLst/>
          </a:prstGeom>
          <a:solidFill>
            <a:srgbClr val="FFEED6"/>
          </a:solidFill>
          <a:ln w="12700"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3621024"/>
            <a:ext cx="4718304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>
                <a:solidFill>
                  <a:srgbClr val="1E354D"/>
                </a:solidFill>
                <a:latin typeface="Aptos"/>
              </a:rPr>
              <a:t>4. BOND-LINE FORMULA (KETCHER)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108192"/>
            <a:ext cx="9866376" cy="685800"/>
          </a:xfrm>
          <a:prstGeom prst="rect">
            <a:avLst/>
          </a:prstGeom>
          <a:solidFill>
            <a:srgbClr val="DEF1E2"/>
          </a:solidFill>
          <a:ln>
            <a:solidFill>
              <a:srgbClr val="AFB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6190488"/>
            <a:ext cx="9555480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1">
                <a:solidFill>
                  <a:srgbClr val="1E354D"/>
                </a:solidFill>
                <a:latin typeface="Aptos"/>
              </a:rPr>
              <a:t>VERIFICATION STRIP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9555480" cy="2103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1000" b="0">
                <a:solidFill>
                  <a:srgbClr val="1E354D"/>
                </a:solidFill>
                <a:latin typeface="Aptos"/>
              </a:rPr>
              <a:t>☐ atom count verified     ☐ valence checked     ☐ bond order checked     ☐ same connectivity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7022592"/>
            <a:ext cx="9866376" cy="2286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ctr"/>
            <a:r>
              <a:rPr sz="800" b="0" dirty="0">
                <a:solidFill>
                  <a:srgbClr val="64707C"/>
                </a:solidFill>
                <a:latin typeface="Aptos"/>
              </a:rPr>
              <a:t>CHEM 13 | Organic Chemistry (Lecture) | Bicol University — College of Engineering | Department of Chemical Engineering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99FF9D0-353D-03CC-76C3-849EE056D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539" y="4004108"/>
            <a:ext cx="1724025" cy="16192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19A02E-D966-02C6-02AD-430BF099B8E1}"/>
              </a:ext>
            </a:extLst>
          </p:cNvPr>
          <p:cNvSpPr txBox="1"/>
          <p:nvPr/>
        </p:nvSpPr>
        <p:spPr>
          <a:xfrm>
            <a:off x="457779" y="4604025"/>
            <a:ext cx="6645374" cy="310854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r>
              <a:rPr lang="pt-BR" sz="1600" b="1" dirty="0">
                <a:solidFill>
                  <a:srgbClr val="1E354D"/>
                </a:solidFill>
                <a:latin typeface="Aptos"/>
              </a:rPr>
              <a:t>CH</a:t>
            </a:r>
            <a:r>
              <a:rPr lang="en-PH" sz="1600" b="1" dirty="0">
                <a:solidFill>
                  <a:srgbClr val="1E354D"/>
                </a:solidFill>
                <a:latin typeface="Aptos"/>
              </a:rPr>
              <a:t>₃</a:t>
            </a:r>
            <a:r>
              <a:rPr lang="pt-BR" sz="1600" b="1" dirty="0">
                <a:solidFill>
                  <a:srgbClr val="1E354D"/>
                </a:solidFill>
                <a:latin typeface="Aptos"/>
              </a:rPr>
              <a:t>–N</a:t>
            </a:r>
            <a:r>
              <a:rPr lang="en-PH" sz="1600" spc="-15" baseline="35087" dirty="0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lang="pt-BR" sz="1600" b="1" dirty="0">
                <a:solidFill>
                  <a:srgbClr val="1E354D"/>
                </a:solidFill>
                <a:latin typeface="Aptos"/>
              </a:rPr>
              <a:t>–CH=N–C</a:t>
            </a:r>
            <a:r>
              <a:rPr lang="en-PH" sz="1600" spc="-15" baseline="35087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lang="pt-BR" sz="1600" b="1" dirty="0">
                <a:solidFill>
                  <a:srgbClr val="1E354D"/>
                </a:solidFill>
                <a:latin typeface="Aptos"/>
              </a:rPr>
              <a:t>=C</a:t>
            </a:r>
            <a:r>
              <a:rPr lang="en-PH" sz="1600" spc="-15" baseline="35087" dirty="0">
                <a:solidFill>
                  <a:srgbClr val="111111"/>
                </a:solidFill>
                <a:latin typeface="Arial"/>
                <a:cs typeface="Arial"/>
              </a:rPr>
              <a:t>1</a:t>
            </a:r>
            <a:r>
              <a:rPr lang="pt-BR" sz="1600" b="1" dirty="0">
                <a:solidFill>
                  <a:srgbClr val="1E354D"/>
                </a:solidFill>
                <a:latin typeface="Aptos"/>
              </a:rPr>
              <a:t>–C(=O)–N(CH</a:t>
            </a:r>
            <a:r>
              <a:rPr lang="en-PH" sz="1600" b="1" dirty="0">
                <a:solidFill>
                  <a:srgbClr val="1E354D"/>
                </a:solidFill>
                <a:latin typeface="Aptos"/>
              </a:rPr>
              <a:t>₃</a:t>
            </a:r>
            <a:r>
              <a:rPr lang="pt-BR" sz="1600" b="1" dirty="0">
                <a:solidFill>
                  <a:srgbClr val="1E354D"/>
                </a:solidFill>
                <a:latin typeface="Aptos"/>
              </a:rPr>
              <a:t>)–C(=O)–N</a:t>
            </a:r>
            <a:r>
              <a:rPr lang="en-PH" sz="1600" spc="-15" baseline="35087" dirty="0">
                <a:solidFill>
                  <a:srgbClr val="111111"/>
                </a:solidFill>
                <a:latin typeface="Arial"/>
                <a:cs typeface="Arial"/>
              </a:rPr>
              <a:t>2</a:t>
            </a:r>
            <a:r>
              <a:rPr lang="pt-BR" sz="1600" b="1" dirty="0">
                <a:solidFill>
                  <a:srgbClr val="1E354D"/>
                </a:solidFill>
                <a:latin typeface="Aptos"/>
              </a:rPr>
              <a:t>–CH</a:t>
            </a:r>
            <a:r>
              <a:rPr lang="en-PH" sz="1600" b="1" dirty="0">
                <a:solidFill>
                  <a:srgbClr val="1E354D"/>
                </a:solidFill>
                <a:latin typeface="Aptos"/>
              </a:rPr>
              <a:t>₃</a:t>
            </a:r>
            <a:endParaRPr lang="pt-BR" sz="1600" b="1" dirty="0">
              <a:solidFill>
                <a:srgbClr val="1E354D"/>
              </a:solidFill>
              <a:latin typeface="Aptos"/>
            </a:endParaRPr>
          </a:p>
        </p:txBody>
      </p:sp>
      <p:sp>
        <p:nvSpPr>
          <p:cNvPr id="24" name="object 26">
            <a:extLst>
              <a:ext uri="{FF2B5EF4-FFF2-40B4-BE49-F238E27FC236}">
                <a16:creationId xmlns:a16="http://schemas.microsoft.com/office/drawing/2014/main" id="{DFC4D1F9-9C5D-17E8-9ED7-92EBF7158DE2}"/>
              </a:ext>
            </a:extLst>
          </p:cNvPr>
          <p:cNvSpPr/>
          <p:nvPr/>
        </p:nvSpPr>
        <p:spPr>
          <a:xfrm>
            <a:off x="6927341" y="1359535"/>
            <a:ext cx="1836420" cy="1712595"/>
          </a:xfrm>
          <a:custGeom>
            <a:avLst/>
            <a:gdLst/>
            <a:ahLst/>
            <a:cxnLst/>
            <a:rect l="l" t="t" r="r" b="b"/>
            <a:pathLst>
              <a:path w="1836420" h="1712595">
                <a:moveTo>
                  <a:pt x="464783" y="712936"/>
                </a:moveTo>
                <a:lnTo>
                  <a:pt x="464783" y="902812"/>
                </a:lnTo>
              </a:path>
              <a:path w="1836420" h="1712595">
                <a:moveTo>
                  <a:pt x="541771" y="1036162"/>
                </a:moveTo>
                <a:lnTo>
                  <a:pt x="706210" y="1131101"/>
                </a:lnTo>
              </a:path>
              <a:path w="1836420" h="1712595">
                <a:moveTo>
                  <a:pt x="860190" y="1131101"/>
                </a:moveTo>
                <a:lnTo>
                  <a:pt x="1024628" y="1036162"/>
                </a:lnTo>
              </a:path>
              <a:path w="1836420" h="1712595">
                <a:moveTo>
                  <a:pt x="1128288" y="902812"/>
                </a:moveTo>
                <a:lnTo>
                  <a:pt x="1128288" y="712936"/>
                </a:lnTo>
              </a:path>
              <a:path w="1836420" h="1712595">
                <a:moveTo>
                  <a:pt x="1074948" y="902812"/>
                </a:moveTo>
                <a:lnTo>
                  <a:pt x="1074948" y="712936"/>
                </a:lnTo>
              </a:path>
              <a:path w="1836420" h="1712595">
                <a:moveTo>
                  <a:pt x="1024628" y="579586"/>
                </a:moveTo>
                <a:lnTo>
                  <a:pt x="860190" y="484647"/>
                </a:lnTo>
              </a:path>
              <a:path w="1836420" h="1712595">
                <a:moveTo>
                  <a:pt x="706210" y="484647"/>
                </a:moveTo>
                <a:lnTo>
                  <a:pt x="541771" y="579586"/>
                </a:lnTo>
              </a:path>
              <a:path w="1836420" h="1712595">
                <a:moveTo>
                  <a:pt x="1186167" y="596564"/>
                </a:moveTo>
                <a:lnTo>
                  <a:pt x="1366751" y="537889"/>
                </a:lnTo>
              </a:path>
              <a:path w="1836420" h="1712595">
                <a:moveTo>
                  <a:pt x="1503554" y="582339"/>
                </a:moveTo>
                <a:lnTo>
                  <a:pt x="1615160" y="735952"/>
                </a:lnTo>
              </a:path>
              <a:path w="1836420" h="1712595">
                <a:moveTo>
                  <a:pt x="1593584" y="864119"/>
                </a:moveTo>
                <a:lnTo>
                  <a:pt x="1481976" y="1017733"/>
                </a:lnTo>
              </a:path>
              <a:path w="1836420" h="1712595">
                <a:moveTo>
                  <a:pt x="1636737" y="895471"/>
                </a:moveTo>
                <a:lnTo>
                  <a:pt x="1525130" y="1049086"/>
                </a:lnTo>
              </a:path>
              <a:path w="1836420" h="1712595">
                <a:moveTo>
                  <a:pt x="1366751" y="1077860"/>
                </a:moveTo>
                <a:lnTo>
                  <a:pt x="1186167" y="1019185"/>
                </a:lnTo>
              </a:path>
              <a:path w="1836420" h="1712595">
                <a:moveTo>
                  <a:pt x="374458" y="1013066"/>
                </a:moveTo>
                <a:lnTo>
                  <a:pt x="210019" y="1108005"/>
                </a:lnTo>
              </a:path>
              <a:path w="1836420" h="1712595">
                <a:moveTo>
                  <a:pt x="401128" y="1059260"/>
                </a:moveTo>
                <a:lnTo>
                  <a:pt x="236689" y="1154198"/>
                </a:lnTo>
              </a:path>
              <a:path w="1836420" h="1712595">
                <a:moveTo>
                  <a:pt x="809870" y="351297"/>
                </a:moveTo>
                <a:lnTo>
                  <a:pt x="809870" y="161419"/>
                </a:lnTo>
              </a:path>
              <a:path w="1836420" h="1712595">
                <a:moveTo>
                  <a:pt x="756530" y="351297"/>
                </a:moveTo>
                <a:lnTo>
                  <a:pt x="756530" y="161419"/>
                </a:lnTo>
              </a:path>
              <a:path w="1836420" h="1712595">
                <a:moveTo>
                  <a:pt x="387793" y="579586"/>
                </a:moveTo>
                <a:lnTo>
                  <a:pt x="223354" y="484647"/>
                </a:lnTo>
              </a:path>
              <a:path w="1836420" h="1712595">
                <a:moveTo>
                  <a:pt x="783200" y="1264451"/>
                </a:moveTo>
                <a:lnTo>
                  <a:pt x="783200" y="1454329"/>
                </a:lnTo>
              </a:path>
              <a:path w="1836420" h="1712595">
                <a:moveTo>
                  <a:pt x="1478771" y="425867"/>
                </a:moveTo>
                <a:lnTo>
                  <a:pt x="1537446" y="245283"/>
                </a:lnTo>
              </a:path>
              <a:path w="1836420" h="1712595">
                <a:moveTo>
                  <a:pt x="1756314" y="807874"/>
                </a:moveTo>
                <a:lnTo>
                  <a:pt x="1836422" y="807874"/>
                </a:lnTo>
              </a:path>
              <a:path w="1836420" h="1712595">
                <a:moveTo>
                  <a:pt x="69375" y="395747"/>
                </a:moveTo>
                <a:lnTo>
                  <a:pt x="0" y="355693"/>
                </a:lnTo>
              </a:path>
              <a:path w="1836420" h="1712595">
                <a:moveTo>
                  <a:pt x="101914" y="517187"/>
                </a:moveTo>
                <a:lnTo>
                  <a:pt x="61861" y="586560"/>
                </a:lnTo>
              </a:path>
              <a:path w="1836420" h="1712595">
                <a:moveTo>
                  <a:pt x="190814" y="363207"/>
                </a:moveTo>
                <a:lnTo>
                  <a:pt x="230868" y="293833"/>
                </a:lnTo>
              </a:path>
              <a:path w="1836420" h="1712595">
                <a:moveTo>
                  <a:pt x="783200" y="1632129"/>
                </a:moveTo>
                <a:lnTo>
                  <a:pt x="783200" y="1712235"/>
                </a:lnTo>
              </a:path>
              <a:path w="1836420" h="1712595">
                <a:moveTo>
                  <a:pt x="694300" y="1543229"/>
                </a:moveTo>
                <a:lnTo>
                  <a:pt x="614193" y="1543229"/>
                </a:lnTo>
              </a:path>
              <a:path w="1836420" h="1712595">
                <a:moveTo>
                  <a:pt x="872100" y="1543229"/>
                </a:moveTo>
                <a:lnTo>
                  <a:pt x="952206" y="1543229"/>
                </a:lnTo>
              </a:path>
              <a:path w="1836420" h="1712595">
                <a:moveTo>
                  <a:pt x="1592389" y="76187"/>
                </a:moveTo>
                <a:lnTo>
                  <a:pt x="1617144" y="0"/>
                </a:lnTo>
              </a:path>
              <a:path w="1836420" h="1712595">
                <a:moveTo>
                  <a:pt x="1649467" y="188207"/>
                </a:moveTo>
                <a:lnTo>
                  <a:pt x="1725653" y="212961"/>
                </a:lnTo>
              </a:path>
              <a:path w="1836420" h="1712595">
                <a:moveTo>
                  <a:pt x="1480369" y="133263"/>
                </a:moveTo>
                <a:lnTo>
                  <a:pt x="1404183" y="108510"/>
                </a:lnTo>
              </a:path>
            </a:pathLst>
          </a:custGeom>
          <a:ln w="15875">
            <a:solidFill>
              <a:srgbClr val="11111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8">
            <a:extLst>
              <a:ext uri="{FF2B5EF4-FFF2-40B4-BE49-F238E27FC236}">
                <a16:creationId xmlns:a16="http://schemas.microsoft.com/office/drawing/2014/main" id="{51D8038A-D21F-F23B-61D9-65E5A44601D9}"/>
              </a:ext>
            </a:extLst>
          </p:cNvPr>
          <p:cNvSpPr txBox="1"/>
          <p:nvPr/>
        </p:nvSpPr>
        <p:spPr>
          <a:xfrm>
            <a:off x="7326550" y="227512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04BCB205-7B36-3466-AC06-98F370194DEE}"/>
              </a:ext>
            </a:extLst>
          </p:cNvPr>
          <p:cNvSpPr txBox="1"/>
          <p:nvPr/>
        </p:nvSpPr>
        <p:spPr>
          <a:xfrm>
            <a:off x="7968202" y="228985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06012F0C-E277-8429-FAD9-42DC936FA60F}"/>
              </a:ext>
            </a:extLst>
          </p:cNvPr>
          <p:cNvSpPr txBox="1"/>
          <p:nvPr/>
        </p:nvSpPr>
        <p:spPr>
          <a:xfrm>
            <a:off x="7968202" y="188955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2" name="object 28">
            <a:extLst>
              <a:ext uri="{FF2B5EF4-FFF2-40B4-BE49-F238E27FC236}">
                <a16:creationId xmlns:a16="http://schemas.microsoft.com/office/drawing/2014/main" id="{3A98B693-E194-A50B-7621-A880827C2685}"/>
              </a:ext>
            </a:extLst>
          </p:cNvPr>
          <p:cNvSpPr txBox="1"/>
          <p:nvPr/>
        </p:nvSpPr>
        <p:spPr>
          <a:xfrm>
            <a:off x="8548259" y="207759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83C689F0-7E31-5683-6E64-4A4689EDB2F1}"/>
              </a:ext>
            </a:extLst>
          </p:cNvPr>
          <p:cNvSpPr txBox="1"/>
          <p:nvPr/>
        </p:nvSpPr>
        <p:spPr>
          <a:xfrm>
            <a:off x="8313068" y="2357310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id="{FAE561FD-83BF-C665-2AAD-E2DE2A95D36E}"/>
              </a:ext>
            </a:extLst>
          </p:cNvPr>
          <p:cNvSpPr txBox="1"/>
          <p:nvPr/>
        </p:nvSpPr>
        <p:spPr>
          <a:xfrm>
            <a:off x="8313068" y="1790597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8" name="object 34">
            <a:extLst>
              <a:ext uri="{FF2B5EF4-FFF2-40B4-BE49-F238E27FC236}">
                <a16:creationId xmlns:a16="http://schemas.microsoft.com/office/drawing/2014/main" id="{8778CDA9-D6CB-0C18-A8C2-E47FEDB49D28}"/>
              </a:ext>
            </a:extLst>
          </p:cNvPr>
          <p:cNvSpPr txBox="1"/>
          <p:nvPr/>
        </p:nvSpPr>
        <p:spPr>
          <a:xfrm>
            <a:off x="7672580" y="246144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0" name="object 34">
            <a:extLst>
              <a:ext uri="{FF2B5EF4-FFF2-40B4-BE49-F238E27FC236}">
                <a16:creationId xmlns:a16="http://schemas.microsoft.com/office/drawing/2014/main" id="{FF8C551D-F3FC-3385-27EE-7F01BCF6F8D6}"/>
              </a:ext>
            </a:extLst>
          </p:cNvPr>
          <p:cNvSpPr txBox="1"/>
          <p:nvPr/>
        </p:nvSpPr>
        <p:spPr>
          <a:xfrm>
            <a:off x="7343024" y="1866695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4" name="object 28">
            <a:extLst>
              <a:ext uri="{FF2B5EF4-FFF2-40B4-BE49-F238E27FC236}">
                <a16:creationId xmlns:a16="http://schemas.microsoft.com/office/drawing/2014/main" id="{FB3F6BA5-770B-5489-27D4-A34852DB1570}"/>
              </a:ext>
            </a:extLst>
          </p:cNvPr>
          <p:cNvSpPr txBox="1"/>
          <p:nvPr/>
        </p:nvSpPr>
        <p:spPr>
          <a:xfrm>
            <a:off x="7655613" y="1686457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6" name="object 28">
            <a:extLst>
              <a:ext uri="{FF2B5EF4-FFF2-40B4-BE49-F238E27FC236}">
                <a16:creationId xmlns:a16="http://schemas.microsoft.com/office/drawing/2014/main" id="{70A14263-3A43-96A0-0D11-B1CB9459C041}"/>
              </a:ext>
            </a:extLst>
          </p:cNvPr>
          <p:cNvSpPr txBox="1"/>
          <p:nvPr/>
        </p:nvSpPr>
        <p:spPr>
          <a:xfrm>
            <a:off x="7672579" y="280221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8" name="object 28">
            <a:extLst>
              <a:ext uri="{FF2B5EF4-FFF2-40B4-BE49-F238E27FC236}">
                <a16:creationId xmlns:a16="http://schemas.microsoft.com/office/drawing/2014/main" id="{9AFE02A6-B6AC-F68F-D729-7FC3883723B7}"/>
              </a:ext>
            </a:extLst>
          </p:cNvPr>
          <p:cNvSpPr txBox="1"/>
          <p:nvPr/>
        </p:nvSpPr>
        <p:spPr>
          <a:xfrm>
            <a:off x="8425070" y="142972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0" name="object 28">
            <a:extLst>
              <a:ext uri="{FF2B5EF4-FFF2-40B4-BE49-F238E27FC236}">
                <a16:creationId xmlns:a16="http://schemas.microsoft.com/office/drawing/2014/main" id="{8730EB83-7676-B99E-7863-ECA8C1546712}"/>
              </a:ext>
            </a:extLst>
          </p:cNvPr>
          <p:cNvSpPr txBox="1"/>
          <p:nvPr/>
        </p:nvSpPr>
        <p:spPr>
          <a:xfrm>
            <a:off x="7030435" y="1700007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C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2" name="object 40">
            <a:extLst>
              <a:ext uri="{FF2B5EF4-FFF2-40B4-BE49-F238E27FC236}">
                <a16:creationId xmlns:a16="http://schemas.microsoft.com/office/drawing/2014/main" id="{36754307-729D-81ED-B538-0586F0D50F06}"/>
              </a:ext>
            </a:extLst>
          </p:cNvPr>
          <p:cNvSpPr txBox="1"/>
          <p:nvPr/>
        </p:nvSpPr>
        <p:spPr>
          <a:xfrm>
            <a:off x="6891108" y="1980757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4" name="object 40">
            <a:extLst>
              <a:ext uri="{FF2B5EF4-FFF2-40B4-BE49-F238E27FC236}">
                <a16:creationId xmlns:a16="http://schemas.microsoft.com/office/drawing/2014/main" id="{3DA9E756-B3F8-8619-C997-7789B079EEBB}"/>
              </a:ext>
            </a:extLst>
          </p:cNvPr>
          <p:cNvSpPr txBox="1"/>
          <p:nvPr/>
        </p:nvSpPr>
        <p:spPr>
          <a:xfrm>
            <a:off x="6777072" y="154736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6" name="object 40">
            <a:extLst>
              <a:ext uri="{FF2B5EF4-FFF2-40B4-BE49-F238E27FC236}">
                <a16:creationId xmlns:a16="http://schemas.microsoft.com/office/drawing/2014/main" id="{0023E936-6239-4E17-B2D9-D11F7BD76D99}"/>
              </a:ext>
            </a:extLst>
          </p:cNvPr>
          <p:cNvSpPr txBox="1"/>
          <p:nvPr/>
        </p:nvSpPr>
        <p:spPr>
          <a:xfrm>
            <a:off x="7219835" y="1522509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8" name="object 40">
            <a:extLst>
              <a:ext uri="{FF2B5EF4-FFF2-40B4-BE49-F238E27FC236}">
                <a16:creationId xmlns:a16="http://schemas.microsoft.com/office/drawing/2014/main" id="{A9996542-336B-2241-0AAA-7D9225739F04}"/>
              </a:ext>
            </a:extLst>
          </p:cNvPr>
          <p:cNvSpPr txBox="1"/>
          <p:nvPr/>
        </p:nvSpPr>
        <p:spPr>
          <a:xfrm>
            <a:off x="7367185" y="2773428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0" name="object 40">
            <a:extLst>
              <a:ext uri="{FF2B5EF4-FFF2-40B4-BE49-F238E27FC236}">
                <a16:creationId xmlns:a16="http://schemas.microsoft.com/office/drawing/2014/main" id="{AB3627D7-4E0A-721B-6459-EA72C8AC4DF3}"/>
              </a:ext>
            </a:extLst>
          </p:cNvPr>
          <p:cNvSpPr txBox="1"/>
          <p:nvPr/>
        </p:nvSpPr>
        <p:spPr>
          <a:xfrm>
            <a:off x="7942284" y="279114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2" name="object 40">
            <a:extLst>
              <a:ext uri="{FF2B5EF4-FFF2-40B4-BE49-F238E27FC236}">
                <a16:creationId xmlns:a16="http://schemas.microsoft.com/office/drawing/2014/main" id="{7DEA83F2-71B0-FA0E-0209-09AD0EA1F393}"/>
              </a:ext>
            </a:extLst>
          </p:cNvPr>
          <p:cNvSpPr txBox="1"/>
          <p:nvPr/>
        </p:nvSpPr>
        <p:spPr>
          <a:xfrm>
            <a:off x="7654883" y="3050286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4" name="object 40">
            <a:extLst>
              <a:ext uri="{FF2B5EF4-FFF2-40B4-BE49-F238E27FC236}">
                <a16:creationId xmlns:a16="http://schemas.microsoft.com/office/drawing/2014/main" id="{1DDE4ACD-36EE-D155-4EB5-461609A3B4C6}"/>
              </a:ext>
            </a:extLst>
          </p:cNvPr>
          <p:cNvSpPr txBox="1"/>
          <p:nvPr/>
        </p:nvSpPr>
        <p:spPr>
          <a:xfrm>
            <a:off x="8706783" y="1533867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6" name="object 40">
            <a:extLst>
              <a:ext uri="{FF2B5EF4-FFF2-40B4-BE49-F238E27FC236}">
                <a16:creationId xmlns:a16="http://schemas.microsoft.com/office/drawing/2014/main" id="{8C067AE6-9FE7-D2B1-8A2E-A9044C33D195}"/>
              </a:ext>
            </a:extLst>
          </p:cNvPr>
          <p:cNvSpPr txBox="1"/>
          <p:nvPr/>
        </p:nvSpPr>
        <p:spPr>
          <a:xfrm>
            <a:off x="8177136" y="139153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8" name="object 40">
            <a:extLst>
              <a:ext uri="{FF2B5EF4-FFF2-40B4-BE49-F238E27FC236}">
                <a16:creationId xmlns:a16="http://schemas.microsoft.com/office/drawing/2014/main" id="{062C5801-7342-751C-F2CC-8EB047F05952}"/>
              </a:ext>
            </a:extLst>
          </p:cNvPr>
          <p:cNvSpPr txBox="1"/>
          <p:nvPr/>
        </p:nvSpPr>
        <p:spPr>
          <a:xfrm>
            <a:off x="8575633" y="1221422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0" name="object 40">
            <a:extLst>
              <a:ext uri="{FF2B5EF4-FFF2-40B4-BE49-F238E27FC236}">
                <a16:creationId xmlns:a16="http://schemas.microsoft.com/office/drawing/2014/main" id="{9F7A4989-B04E-C129-F107-811C8399AB2C}"/>
              </a:ext>
            </a:extLst>
          </p:cNvPr>
          <p:cNvSpPr txBox="1"/>
          <p:nvPr/>
        </p:nvSpPr>
        <p:spPr>
          <a:xfrm>
            <a:off x="8790841" y="2077593"/>
            <a:ext cx="1231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H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6" name="object 35">
            <a:extLst>
              <a:ext uri="{FF2B5EF4-FFF2-40B4-BE49-F238E27FC236}">
                <a16:creationId xmlns:a16="http://schemas.microsoft.com/office/drawing/2014/main" id="{13F054FE-87AD-B1EB-6D4E-37C79AE9E947}"/>
              </a:ext>
            </a:extLst>
          </p:cNvPr>
          <p:cNvSpPr txBox="1"/>
          <p:nvPr/>
        </p:nvSpPr>
        <p:spPr>
          <a:xfrm>
            <a:off x="7007700" y="2431035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8" name="object 35">
            <a:extLst>
              <a:ext uri="{FF2B5EF4-FFF2-40B4-BE49-F238E27FC236}">
                <a16:creationId xmlns:a16="http://schemas.microsoft.com/office/drawing/2014/main" id="{8B8AAF2F-891F-D3F9-B635-62D232FB6C16}"/>
              </a:ext>
            </a:extLst>
          </p:cNvPr>
          <p:cNvSpPr txBox="1"/>
          <p:nvPr/>
        </p:nvSpPr>
        <p:spPr>
          <a:xfrm>
            <a:off x="7651008" y="1361834"/>
            <a:ext cx="13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O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6" name="object 45">
            <a:extLst>
              <a:ext uri="{FF2B5EF4-FFF2-40B4-BE49-F238E27FC236}">
                <a16:creationId xmlns:a16="http://schemas.microsoft.com/office/drawing/2014/main" id="{61863598-B763-6E79-93FD-9F8C563E6106}"/>
              </a:ext>
            </a:extLst>
          </p:cNvPr>
          <p:cNvSpPr/>
          <p:nvPr/>
        </p:nvSpPr>
        <p:spPr>
          <a:xfrm>
            <a:off x="6947981" y="1391532"/>
            <a:ext cx="1527125" cy="1253652"/>
          </a:xfrm>
          <a:custGeom>
            <a:avLst/>
            <a:gdLst/>
            <a:ahLst/>
            <a:cxnLst/>
            <a:rect l="l" t="t" r="r" b="b"/>
            <a:pathLst>
              <a:path w="1521459" h="1340485">
                <a:moveTo>
                  <a:pt x="31750" y="1162926"/>
                </a:moveTo>
                <a:lnTo>
                  <a:pt x="24650" y="1155827"/>
                </a:lnTo>
                <a:lnTo>
                  <a:pt x="7112" y="1155827"/>
                </a:lnTo>
                <a:lnTo>
                  <a:pt x="0" y="1162926"/>
                </a:lnTo>
                <a:lnTo>
                  <a:pt x="0" y="1180465"/>
                </a:lnTo>
                <a:lnTo>
                  <a:pt x="7112" y="1187577"/>
                </a:lnTo>
                <a:lnTo>
                  <a:pt x="24650" y="1187577"/>
                </a:lnTo>
                <a:lnTo>
                  <a:pt x="31750" y="1180465"/>
                </a:lnTo>
                <a:lnTo>
                  <a:pt x="31750" y="1171702"/>
                </a:lnTo>
                <a:lnTo>
                  <a:pt x="31750" y="1162926"/>
                </a:lnTo>
                <a:close/>
              </a:path>
              <a:path w="1521459" h="1340485">
                <a:moveTo>
                  <a:pt x="62230" y="1110132"/>
                </a:moveTo>
                <a:lnTo>
                  <a:pt x="55130" y="1103033"/>
                </a:lnTo>
                <a:lnTo>
                  <a:pt x="37592" y="1103033"/>
                </a:lnTo>
                <a:lnTo>
                  <a:pt x="30480" y="1110132"/>
                </a:lnTo>
                <a:lnTo>
                  <a:pt x="30480" y="1127671"/>
                </a:lnTo>
                <a:lnTo>
                  <a:pt x="37592" y="1134783"/>
                </a:lnTo>
                <a:lnTo>
                  <a:pt x="55130" y="1134783"/>
                </a:lnTo>
                <a:lnTo>
                  <a:pt x="62230" y="1127671"/>
                </a:lnTo>
                <a:lnTo>
                  <a:pt x="62230" y="1118908"/>
                </a:lnTo>
                <a:lnTo>
                  <a:pt x="62230" y="1110132"/>
                </a:lnTo>
                <a:close/>
              </a:path>
              <a:path w="1521459" h="1340485">
                <a:moveTo>
                  <a:pt x="119900" y="1315605"/>
                </a:moveTo>
                <a:lnTo>
                  <a:pt x="112788" y="1308493"/>
                </a:lnTo>
                <a:lnTo>
                  <a:pt x="95262" y="1308493"/>
                </a:lnTo>
                <a:lnTo>
                  <a:pt x="88150" y="1315605"/>
                </a:lnTo>
                <a:lnTo>
                  <a:pt x="88150" y="1333131"/>
                </a:lnTo>
                <a:lnTo>
                  <a:pt x="95262" y="1340243"/>
                </a:lnTo>
                <a:lnTo>
                  <a:pt x="112788" y="1340243"/>
                </a:lnTo>
                <a:lnTo>
                  <a:pt x="119900" y="1333131"/>
                </a:lnTo>
                <a:lnTo>
                  <a:pt x="119900" y="1324368"/>
                </a:lnTo>
                <a:lnTo>
                  <a:pt x="119900" y="1315605"/>
                </a:lnTo>
                <a:close/>
              </a:path>
              <a:path w="1521459" h="1340485">
                <a:moveTo>
                  <a:pt x="180860" y="1315605"/>
                </a:moveTo>
                <a:lnTo>
                  <a:pt x="173748" y="1308493"/>
                </a:lnTo>
                <a:lnTo>
                  <a:pt x="156222" y="1308493"/>
                </a:lnTo>
                <a:lnTo>
                  <a:pt x="149110" y="1315605"/>
                </a:lnTo>
                <a:lnTo>
                  <a:pt x="149110" y="1333131"/>
                </a:lnTo>
                <a:lnTo>
                  <a:pt x="156222" y="1340243"/>
                </a:lnTo>
                <a:lnTo>
                  <a:pt x="173748" y="1340243"/>
                </a:lnTo>
                <a:lnTo>
                  <a:pt x="180860" y="1333131"/>
                </a:lnTo>
                <a:lnTo>
                  <a:pt x="180860" y="1324368"/>
                </a:lnTo>
                <a:lnTo>
                  <a:pt x="180860" y="1315605"/>
                </a:lnTo>
                <a:close/>
              </a:path>
              <a:path w="1521459" h="1340485">
                <a:moveTo>
                  <a:pt x="438315" y="525322"/>
                </a:moveTo>
                <a:lnTo>
                  <a:pt x="431215" y="518223"/>
                </a:lnTo>
                <a:lnTo>
                  <a:pt x="413677" y="518223"/>
                </a:lnTo>
                <a:lnTo>
                  <a:pt x="406565" y="525322"/>
                </a:lnTo>
                <a:lnTo>
                  <a:pt x="406565" y="542861"/>
                </a:lnTo>
                <a:lnTo>
                  <a:pt x="413677" y="549973"/>
                </a:lnTo>
                <a:lnTo>
                  <a:pt x="431215" y="549973"/>
                </a:lnTo>
                <a:lnTo>
                  <a:pt x="438315" y="542861"/>
                </a:lnTo>
                <a:lnTo>
                  <a:pt x="438315" y="534098"/>
                </a:lnTo>
                <a:lnTo>
                  <a:pt x="438315" y="525322"/>
                </a:lnTo>
                <a:close/>
              </a:path>
              <a:path w="1521459" h="1340485">
                <a:moveTo>
                  <a:pt x="499275" y="525322"/>
                </a:moveTo>
                <a:lnTo>
                  <a:pt x="492175" y="518223"/>
                </a:lnTo>
                <a:lnTo>
                  <a:pt x="474637" y="518223"/>
                </a:lnTo>
                <a:lnTo>
                  <a:pt x="467525" y="525322"/>
                </a:lnTo>
                <a:lnTo>
                  <a:pt x="467525" y="542861"/>
                </a:lnTo>
                <a:lnTo>
                  <a:pt x="474637" y="549973"/>
                </a:lnTo>
                <a:lnTo>
                  <a:pt x="492175" y="549973"/>
                </a:lnTo>
                <a:lnTo>
                  <a:pt x="499275" y="542861"/>
                </a:lnTo>
                <a:lnTo>
                  <a:pt x="499275" y="534098"/>
                </a:lnTo>
                <a:lnTo>
                  <a:pt x="499275" y="525322"/>
                </a:lnTo>
                <a:close/>
              </a:path>
              <a:path w="1521459" h="1340485">
                <a:moveTo>
                  <a:pt x="668591" y="1229512"/>
                </a:moveTo>
                <a:lnTo>
                  <a:pt x="661479" y="1222413"/>
                </a:lnTo>
                <a:lnTo>
                  <a:pt x="643953" y="1222413"/>
                </a:lnTo>
                <a:lnTo>
                  <a:pt x="636841" y="1229512"/>
                </a:lnTo>
                <a:lnTo>
                  <a:pt x="636841" y="1247051"/>
                </a:lnTo>
                <a:lnTo>
                  <a:pt x="643953" y="1254163"/>
                </a:lnTo>
                <a:lnTo>
                  <a:pt x="661479" y="1254163"/>
                </a:lnTo>
                <a:lnTo>
                  <a:pt x="668591" y="1247051"/>
                </a:lnTo>
                <a:lnTo>
                  <a:pt x="668591" y="1238288"/>
                </a:lnTo>
                <a:lnTo>
                  <a:pt x="668591" y="1229512"/>
                </a:lnTo>
                <a:close/>
              </a:path>
              <a:path w="1521459" h="1340485">
                <a:moveTo>
                  <a:pt x="668591" y="59893"/>
                </a:moveTo>
                <a:lnTo>
                  <a:pt x="661479" y="52793"/>
                </a:lnTo>
                <a:lnTo>
                  <a:pt x="643953" y="52793"/>
                </a:lnTo>
                <a:lnTo>
                  <a:pt x="636841" y="59893"/>
                </a:lnTo>
                <a:lnTo>
                  <a:pt x="636841" y="77431"/>
                </a:lnTo>
                <a:lnTo>
                  <a:pt x="643953" y="84543"/>
                </a:lnTo>
                <a:lnTo>
                  <a:pt x="661479" y="84543"/>
                </a:lnTo>
                <a:lnTo>
                  <a:pt x="668591" y="77431"/>
                </a:lnTo>
                <a:lnTo>
                  <a:pt x="668591" y="68668"/>
                </a:lnTo>
                <a:lnTo>
                  <a:pt x="668591" y="59893"/>
                </a:lnTo>
                <a:close/>
              </a:path>
              <a:path w="1521459" h="1340485">
                <a:moveTo>
                  <a:pt x="699071" y="1282306"/>
                </a:moveTo>
                <a:lnTo>
                  <a:pt x="691959" y="1275207"/>
                </a:lnTo>
                <a:lnTo>
                  <a:pt x="674433" y="1275207"/>
                </a:lnTo>
                <a:lnTo>
                  <a:pt x="667321" y="1282306"/>
                </a:lnTo>
                <a:lnTo>
                  <a:pt x="667321" y="1299845"/>
                </a:lnTo>
                <a:lnTo>
                  <a:pt x="674433" y="1306957"/>
                </a:lnTo>
                <a:lnTo>
                  <a:pt x="691959" y="1306957"/>
                </a:lnTo>
                <a:lnTo>
                  <a:pt x="699071" y="1299845"/>
                </a:lnTo>
                <a:lnTo>
                  <a:pt x="699071" y="1291082"/>
                </a:lnTo>
                <a:lnTo>
                  <a:pt x="699071" y="1282306"/>
                </a:lnTo>
                <a:close/>
              </a:path>
              <a:path w="1521459" h="1340485">
                <a:moveTo>
                  <a:pt x="699071" y="7099"/>
                </a:moveTo>
                <a:lnTo>
                  <a:pt x="691959" y="0"/>
                </a:lnTo>
                <a:lnTo>
                  <a:pt x="674433" y="0"/>
                </a:lnTo>
                <a:lnTo>
                  <a:pt x="667321" y="7099"/>
                </a:lnTo>
                <a:lnTo>
                  <a:pt x="667321" y="24638"/>
                </a:lnTo>
                <a:lnTo>
                  <a:pt x="674433" y="31750"/>
                </a:lnTo>
                <a:lnTo>
                  <a:pt x="691959" y="31750"/>
                </a:lnTo>
                <a:lnTo>
                  <a:pt x="699071" y="24638"/>
                </a:lnTo>
                <a:lnTo>
                  <a:pt x="699071" y="15875"/>
                </a:lnTo>
                <a:lnTo>
                  <a:pt x="699071" y="7099"/>
                </a:lnTo>
                <a:close/>
              </a:path>
              <a:path w="1521459" h="1340485">
                <a:moveTo>
                  <a:pt x="875360" y="7099"/>
                </a:moveTo>
                <a:lnTo>
                  <a:pt x="868260" y="0"/>
                </a:lnTo>
                <a:lnTo>
                  <a:pt x="850722" y="0"/>
                </a:lnTo>
                <a:lnTo>
                  <a:pt x="843610" y="7099"/>
                </a:lnTo>
                <a:lnTo>
                  <a:pt x="843610" y="24638"/>
                </a:lnTo>
                <a:lnTo>
                  <a:pt x="850722" y="31750"/>
                </a:lnTo>
                <a:lnTo>
                  <a:pt x="868260" y="31750"/>
                </a:lnTo>
                <a:lnTo>
                  <a:pt x="875360" y="24638"/>
                </a:lnTo>
                <a:lnTo>
                  <a:pt x="875360" y="15875"/>
                </a:lnTo>
                <a:lnTo>
                  <a:pt x="875360" y="7099"/>
                </a:lnTo>
                <a:close/>
              </a:path>
              <a:path w="1521459" h="1340485">
                <a:moveTo>
                  <a:pt x="905840" y="59893"/>
                </a:moveTo>
                <a:lnTo>
                  <a:pt x="898740" y="52793"/>
                </a:lnTo>
                <a:lnTo>
                  <a:pt x="881202" y="52793"/>
                </a:lnTo>
                <a:lnTo>
                  <a:pt x="874090" y="59893"/>
                </a:lnTo>
                <a:lnTo>
                  <a:pt x="874090" y="77431"/>
                </a:lnTo>
                <a:lnTo>
                  <a:pt x="881202" y="84543"/>
                </a:lnTo>
                <a:lnTo>
                  <a:pt x="898740" y="84543"/>
                </a:lnTo>
                <a:lnTo>
                  <a:pt x="905840" y="77431"/>
                </a:lnTo>
                <a:lnTo>
                  <a:pt x="905840" y="68668"/>
                </a:lnTo>
                <a:lnTo>
                  <a:pt x="905840" y="59893"/>
                </a:lnTo>
                <a:close/>
              </a:path>
              <a:path w="1521459" h="1340485">
                <a:moveTo>
                  <a:pt x="1349349" y="468223"/>
                </a:moveTo>
                <a:lnTo>
                  <a:pt x="1342237" y="461124"/>
                </a:lnTo>
                <a:lnTo>
                  <a:pt x="1324711" y="461124"/>
                </a:lnTo>
                <a:lnTo>
                  <a:pt x="1317599" y="468223"/>
                </a:lnTo>
                <a:lnTo>
                  <a:pt x="1317599" y="485762"/>
                </a:lnTo>
                <a:lnTo>
                  <a:pt x="1324711" y="492874"/>
                </a:lnTo>
                <a:lnTo>
                  <a:pt x="1342237" y="492874"/>
                </a:lnTo>
                <a:lnTo>
                  <a:pt x="1349349" y="485762"/>
                </a:lnTo>
                <a:lnTo>
                  <a:pt x="1349349" y="476999"/>
                </a:lnTo>
                <a:lnTo>
                  <a:pt x="1349349" y="468223"/>
                </a:lnTo>
                <a:close/>
              </a:path>
              <a:path w="1521459" h="1340485">
                <a:moveTo>
                  <a:pt x="1392453" y="425119"/>
                </a:moveTo>
                <a:lnTo>
                  <a:pt x="1385341" y="418007"/>
                </a:lnTo>
                <a:lnTo>
                  <a:pt x="1367815" y="418007"/>
                </a:lnTo>
                <a:lnTo>
                  <a:pt x="1360703" y="425119"/>
                </a:lnTo>
                <a:lnTo>
                  <a:pt x="1360703" y="442658"/>
                </a:lnTo>
                <a:lnTo>
                  <a:pt x="1367815" y="449757"/>
                </a:lnTo>
                <a:lnTo>
                  <a:pt x="1385341" y="449757"/>
                </a:lnTo>
                <a:lnTo>
                  <a:pt x="1392453" y="442658"/>
                </a:lnTo>
                <a:lnTo>
                  <a:pt x="1392453" y="433882"/>
                </a:lnTo>
                <a:lnTo>
                  <a:pt x="1392453" y="425119"/>
                </a:lnTo>
                <a:close/>
              </a:path>
              <a:path w="1521459" h="1340485">
                <a:moveTo>
                  <a:pt x="1463217" y="1248956"/>
                </a:moveTo>
                <a:lnTo>
                  <a:pt x="1456105" y="1241844"/>
                </a:lnTo>
                <a:lnTo>
                  <a:pt x="1438579" y="1241844"/>
                </a:lnTo>
                <a:lnTo>
                  <a:pt x="1431467" y="1248956"/>
                </a:lnTo>
                <a:lnTo>
                  <a:pt x="1431467" y="1266494"/>
                </a:lnTo>
                <a:lnTo>
                  <a:pt x="1438579" y="1273594"/>
                </a:lnTo>
                <a:lnTo>
                  <a:pt x="1456105" y="1273594"/>
                </a:lnTo>
                <a:lnTo>
                  <a:pt x="1463217" y="1266494"/>
                </a:lnTo>
                <a:lnTo>
                  <a:pt x="1463217" y="1257719"/>
                </a:lnTo>
                <a:lnTo>
                  <a:pt x="1463217" y="1248956"/>
                </a:lnTo>
                <a:close/>
              </a:path>
              <a:path w="1521459" h="1340485">
                <a:moveTo>
                  <a:pt x="1521193" y="1230122"/>
                </a:moveTo>
                <a:lnTo>
                  <a:pt x="1514081" y="1223010"/>
                </a:lnTo>
                <a:lnTo>
                  <a:pt x="1496555" y="1223010"/>
                </a:lnTo>
                <a:lnTo>
                  <a:pt x="1489443" y="1230122"/>
                </a:lnTo>
                <a:lnTo>
                  <a:pt x="1489443" y="1247660"/>
                </a:lnTo>
                <a:lnTo>
                  <a:pt x="1496555" y="1254760"/>
                </a:lnTo>
                <a:lnTo>
                  <a:pt x="1514081" y="1254760"/>
                </a:lnTo>
                <a:lnTo>
                  <a:pt x="1521193" y="1247660"/>
                </a:lnTo>
                <a:lnTo>
                  <a:pt x="1521193" y="1238885"/>
                </a:lnTo>
                <a:lnTo>
                  <a:pt x="1521193" y="1230122"/>
                </a:lnTo>
                <a:close/>
              </a:path>
            </a:pathLst>
          </a:custGeom>
          <a:solidFill>
            <a:srgbClr val="11111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8" name="object 45">
            <a:extLst>
              <a:ext uri="{FF2B5EF4-FFF2-40B4-BE49-F238E27FC236}">
                <a16:creationId xmlns:a16="http://schemas.microsoft.com/office/drawing/2014/main" id="{C77381C2-98FB-6E22-0F34-907217374810}"/>
              </a:ext>
            </a:extLst>
          </p:cNvPr>
          <p:cNvSpPr/>
          <p:nvPr/>
        </p:nvSpPr>
        <p:spPr>
          <a:xfrm>
            <a:off x="5054294" y="6511422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45">
            <a:extLst>
              <a:ext uri="{FF2B5EF4-FFF2-40B4-BE49-F238E27FC236}">
                <a16:creationId xmlns:a16="http://schemas.microsoft.com/office/drawing/2014/main" id="{26C76964-BD2A-ED80-FE6E-16A16A40C48B}"/>
              </a:ext>
            </a:extLst>
          </p:cNvPr>
          <p:cNvSpPr/>
          <p:nvPr/>
        </p:nvSpPr>
        <p:spPr>
          <a:xfrm>
            <a:off x="2573666" y="6512158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45">
            <a:extLst>
              <a:ext uri="{FF2B5EF4-FFF2-40B4-BE49-F238E27FC236}">
                <a16:creationId xmlns:a16="http://schemas.microsoft.com/office/drawing/2014/main" id="{D433E6D8-27A7-508A-FCA0-E37366F80528}"/>
              </a:ext>
            </a:extLst>
          </p:cNvPr>
          <p:cNvSpPr/>
          <p:nvPr/>
        </p:nvSpPr>
        <p:spPr>
          <a:xfrm>
            <a:off x="3888434" y="6508559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45">
            <a:extLst>
              <a:ext uri="{FF2B5EF4-FFF2-40B4-BE49-F238E27FC236}">
                <a16:creationId xmlns:a16="http://schemas.microsoft.com/office/drawing/2014/main" id="{CE69C57B-DF4C-FC1D-404F-2630D36EF6C5}"/>
              </a:ext>
            </a:extLst>
          </p:cNvPr>
          <p:cNvSpPr/>
          <p:nvPr/>
        </p:nvSpPr>
        <p:spPr>
          <a:xfrm>
            <a:off x="6403034" y="6507099"/>
            <a:ext cx="84455" cy="67945"/>
          </a:xfrm>
          <a:custGeom>
            <a:avLst/>
            <a:gdLst/>
            <a:ahLst/>
            <a:cxnLst/>
            <a:rect l="l" t="t" r="r" b="b"/>
            <a:pathLst>
              <a:path w="84454" h="67945">
                <a:moveTo>
                  <a:pt x="0" y="34747"/>
                </a:moveTo>
                <a:lnTo>
                  <a:pt x="28956" y="67564"/>
                </a:lnTo>
                <a:lnTo>
                  <a:pt x="83972" y="0"/>
                </a:lnTo>
              </a:path>
            </a:pathLst>
          </a:cu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</TotalTime>
  <Words>1141</Words>
  <Application>Microsoft Office PowerPoint</Application>
  <PresentationFormat>Custom</PresentationFormat>
  <Paragraphs>266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Keziah Buella</cp:lastModifiedBy>
  <cp:revision>3</cp:revision>
  <cp:lastPrinted>2026-10-26T16:19:49Z</cp:lastPrinted>
  <dcterms:created xsi:type="dcterms:W3CDTF">2013-01-27T09:14:16Z</dcterms:created>
  <dcterms:modified xsi:type="dcterms:W3CDTF">2026-10-29T23:40:12Z</dcterms:modified>
  <cp:category/>
</cp:coreProperties>
</file>